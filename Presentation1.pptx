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5" r:id="rId1"/>
  </p:sldMasterIdLst>
  <p:sldIdLst>
    <p:sldId id="256" r:id="rId2"/>
    <p:sldId id="257" r:id="rId3"/>
    <p:sldId id="258" r:id="rId4"/>
    <p:sldId id="259" r:id="rId5"/>
    <p:sldId id="260" r:id="rId6"/>
    <p:sldId id="261" r:id="rId7"/>
    <p:sldId id="263" r:id="rId8"/>
    <p:sldId id="264" r:id="rId9"/>
    <p:sldId id="266" r:id="rId10"/>
    <p:sldId id="267" r:id="rId11"/>
    <p:sldId id="265" r:id="rId12"/>
    <p:sldId id="262"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4660"/>
  </p:normalViewPr>
  <p:slideViewPr>
    <p:cSldViewPr snapToGrid="0">
      <p:cViewPr varScale="1">
        <p:scale>
          <a:sx n="73" d="100"/>
          <a:sy n="73" d="100"/>
        </p:scale>
        <p:origin x="404" y="36"/>
      </p:cViewPr>
      <p:guideLst/>
    </p:cSldViewPr>
  </p:slideViewPr>
  <p:notesTextViewPr>
    <p:cViewPr>
      <p:scale>
        <a:sx n="1" d="1"/>
        <a:sy n="1" d="1"/>
      </p:scale>
      <p:origin x="0" y="0"/>
    </p:cViewPr>
  </p:notesTextViewPr>
  <p:sorterViewPr>
    <p:cViewPr>
      <p:scale>
        <a:sx n="100" d="100"/>
        <a:sy n="100" d="100"/>
      </p:scale>
      <p:origin x="0" y="-2484"/>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3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3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3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5000"/>
              </a:lnSpc>
              <a:defRPr sz="7200" b="1" cap="none"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6818393-A298-48E4-8D47-FE7EC3C88846}" type="datetimeFigureOut">
              <a:rPr lang="en-IN" smtClean="0"/>
              <a:t>19-12-2022</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b="1"/>
            </a:lvl1pPr>
          </a:lstStyle>
          <a:p>
            <a:fld id="{D65BBC20-5875-413D-A0ED-BACC5E30222F}" type="slidenum">
              <a:rPr lang="en-IN" smtClean="0"/>
              <a:t>‹#›</a:t>
            </a:fld>
            <a:endParaRPr lang="en-IN" dirty="0"/>
          </a:p>
        </p:txBody>
      </p:sp>
    </p:spTree>
    <p:extLst>
      <p:ext uri="{BB962C8B-B14F-4D97-AF65-F5344CB8AC3E}">
        <p14:creationId xmlns:p14="http://schemas.microsoft.com/office/powerpoint/2010/main" val="22379973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6818393-A298-48E4-8D47-FE7EC3C88846}" type="datetimeFigureOut">
              <a:rPr lang="en-IN" smtClean="0"/>
              <a:t>19-12-2022</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D65BBC20-5875-413D-A0ED-BACC5E30222F}" type="slidenum">
              <a:rPr lang="en-IN" smtClean="0"/>
              <a:t>‹#›</a:t>
            </a:fld>
            <a:endParaRPr lang="en-IN" dirty="0"/>
          </a:p>
        </p:txBody>
      </p:sp>
    </p:spTree>
    <p:extLst>
      <p:ext uri="{BB962C8B-B14F-4D97-AF65-F5344CB8AC3E}">
        <p14:creationId xmlns:p14="http://schemas.microsoft.com/office/powerpoint/2010/main" val="2046531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3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5000"/>
              </a:lnSpc>
              <a:defRPr sz="7200" b="1"/>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A6818393-A298-48E4-8D47-FE7EC3C88846}" type="datetimeFigureOut">
              <a:rPr lang="en-IN" smtClean="0"/>
              <a:t>19-12-2022</a:t>
            </a:fld>
            <a:endParaRPr lang="en-IN" dirty="0"/>
          </a:p>
        </p:txBody>
      </p:sp>
      <p:sp>
        <p:nvSpPr>
          <p:cNvPr id="5" name="Footer Placeholder 4"/>
          <p:cNvSpPr>
            <a:spLocks noGrp="1"/>
          </p:cNvSpPr>
          <p:nvPr>
            <p:ph type="ftr" sz="quarter" idx="11"/>
          </p:nvPr>
        </p:nvSpPr>
        <p:spPr>
          <a:xfrm>
            <a:off x="2182708" y="6272784"/>
            <a:ext cx="6327648" cy="365125"/>
          </a:xfrm>
        </p:spPr>
        <p:txBody>
          <a:bodyPr/>
          <a:lstStyle/>
          <a:p>
            <a:endParaRPr lang="en-IN"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D65BBC20-5875-413D-A0ED-BACC5E30222F}" type="slidenum">
              <a:rPr lang="en-IN" smtClean="0"/>
              <a:t>‹#›</a:t>
            </a:fld>
            <a:endParaRPr lang="en-IN" dirty="0"/>
          </a:p>
        </p:txBody>
      </p:sp>
    </p:spTree>
    <p:extLst>
      <p:ext uri="{BB962C8B-B14F-4D97-AF65-F5344CB8AC3E}">
        <p14:creationId xmlns:p14="http://schemas.microsoft.com/office/powerpoint/2010/main" val="37100685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6818393-A298-48E4-8D47-FE7EC3C88846}" type="datetimeFigureOut">
              <a:rPr lang="en-IN" smtClean="0"/>
              <a:t>19-12-2022</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D65BBC20-5875-413D-A0ED-BACC5E30222F}" type="slidenum">
              <a:rPr lang="en-IN" smtClean="0"/>
              <a:t>‹#›</a:t>
            </a:fld>
            <a:endParaRPr lang="en-IN" dirty="0"/>
          </a:p>
        </p:txBody>
      </p:sp>
    </p:spTree>
    <p:extLst>
      <p:ext uri="{BB962C8B-B14F-4D97-AF65-F5344CB8AC3E}">
        <p14:creationId xmlns:p14="http://schemas.microsoft.com/office/powerpoint/2010/main" val="3951238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6818393-A298-48E4-8D47-FE7EC3C88846}" type="datetimeFigureOut">
              <a:rPr lang="en-IN" smtClean="0"/>
              <a:t>19-12-2022</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D65BBC20-5875-413D-A0ED-BACC5E30222F}" type="slidenum">
              <a:rPr lang="en-IN" smtClean="0"/>
              <a:t>‹#›</a:t>
            </a:fld>
            <a:endParaRPr lang="en-IN" dirty="0"/>
          </a:p>
        </p:txBody>
      </p:sp>
    </p:spTree>
    <p:extLst>
      <p:ext uri="{BB962C8B-B14F-4D97-AF65-F5344CB8AC3E}">
        <p14:creationId xmlns:p14="http://schemas.microsoft.com/office/powerpoint/2010/main" val="42639984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6818393-A298-48E4-8D47-FE7EC3C88846}" type="datetimeFigureOut">
              <a:rPr lang="en-IN" smtClean="0"/>
              <a:t>19-12-2022</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D65BBC20-5875-413D-A0ED-BACC5E30222F}" type="slidenum">
              <a:rPr lang="en-IN" smtClean="0"/>
              <a:t>‹#›</a:t>
            </a:fld>
            <a:endParaRPr lang="en-IN" dirty="0"/>
          </a:p>
        </p:txBody>
      </p:sp>
    </p:spTree>
    <p:extLst>
      <p:ext uri="{BB962C8B-B14F-4D97-AF65-F5344CB8AC3E}">
        <p14:creationId xmlns:p14="http://schemas.microsoft.com/office/powerpoint/2010/main" val="26274808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6818393-A298-48E4-8D47-FE7EC3C88846}" type="datetimeFigureOut">
              <a:rPr lang="en-IN" smtClean="0"/>
              <a:t>19-12-2022</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D65BBC20-5875-413D-A0ED-BACC5E30222F}" type="slidenum">
              <a:rPr lang="en-IN" smtClean="0"/>
              <a:t>‹#›</a:t>
            </a:fld>
            <a:endParaRPr lang="en-IN" dirty="0"/>
          </a:p>
        </p:txBody>
      </p:sp>
    </p:spTree>
    <p:extLst>
      <p:ext uri="{BB962C8B-B14F-4D97-AF65-F5344CB8AC3E}">
        <p14:creationId xmlns:p14="http://schemas.microsoft.com/office/powerpoint/2010/main" val="32545355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6818393-A298-48E4-8D47-FE7EC3C88846}" type="datetimeFigureOut">
              <a:rPr lang="en-IN" smtClean="0"/>
              <a:t>19-12-2022</a:t>
            </a:fld>
            <a:endParaRPr lang="en-IN" dirty="0"/>
          </a:p>
        </p:txBody>
      </p:sp>
      <p:sp>
        <p:nvSpPr>
          <p:cNvPr id="6" name="Footer Placeholder 5"/>
          <p:cNvSpPr>
            <a:spLocks noGrp="1"/>
          </p:cNvSpPr>
          <p:nvPr>
            <p:ph type="ftr" sz="quarter" idx="11"/>
          </p:nvPr>
        </p:nvSpPr>
        <p:spPr/>
        <p:txBody>
          <a:bodyPr/>
          <a:lstStyle/>
          <a:p>
            <a:endParaRPr lang="en-IN"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D65BBC20-5875-413D-A0ED-BACC5E30222F}" type="slidenum">
              <a:rPr lang="en-IN" smtClean="0"/>
              <a:t>‹#›</a:t>
            </a:fld>
            <a:endParaRPr lang="en-IN" dirty="0"/>
          </a:p>
        </p:txBody>
      </p:sp>
    </p:spTree>
    <p:extLst>
      <p:ext uri="{BB962C8B-B14F-4D97-AF65-F5344CB8AC3E}">
        <p14:creationId xmlns:p14="http://schemas.microsoft.com/office/powerpoint/2010/main" val="37588190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6818393-A298-48E4-8D47-FE7EC3C88846}" type="datetimeFigureOut">
              <a:rPr lang="en-IN" smtClean="0"/>
              <a:t>19-12-2022</a:t>
            </a:fld>
            <a:endParaRPr lang="en-IN"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D65BBC20-5875-413D-A0ED-BACC5E30222F}" type="slidenum">
              <a:rPr lang="en-IN" smtClean="0"/>
              <a:t>‹#›</a:t>
            </a:fld>
            <a:endParaRPr lang="en-IN" dirty="0"/>
          </a:p>
        </p:txBody>
      </p:sp>
    </p:spTree>
    <p:extLst>
      <p:ext uri="{BB962C8B-B14F-4D97-AF65-F5344CB8AC3E}">
        <p14:creationId xmlns:p14="http://schemas.microsoft.com/office/powerpoint/2010/main" val="4039234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6818393-A298-48E4-8D47-FE7EC3C88846}" type="datetimeFigureOut">
              <a:rPr lang="en-IN" smtClean="0"/>
              <a:t>19-12-2022</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D65BBC20-5875-413D-A0ED-BACC5E30222F}" type="slidenum">
              <a:rPr lang="en-IN" smtClean="0"/>
              <a:t>‹#›</a:t>
            </a:fld>
            <a:endParaRPr lang="en-IN" dirty="0"/>
          </a:p>
        </p:txBody>
      </p:sp>
    </p:spTree>
    <p:extLst>
      <p:ext uri="{BB962C8B-B14F-4D97-AF65-F5344CB8AC3E}">
        <p14:creationId xmlns:p14="http://schemas.microsoft.com/office/powerpoint/2010/main" val="29730532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6818393-A298-48E4-8D47-FE7EC3C88846}" type="datetimeFigureOut">
              <a:rPr lang="en-IN" smtClean="0"/>
              <a:t>19-12-2022</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D65BBC20-5875-413D-A0ED-BACC5E30222F}" type="slidenum">
              <a:rPr lang="en-IN" smtClean="0"/>
              <a:t>‹#›</a:t>
            </a:fld>
            <a:endParaRPr lang="en-IN" dirty="0"/>
          </a:p>
        </p:txBody>
      </p:sp>
    </p:spTree>
    <p:extLst>
      <p:ext uri="{BB962C8B-B14F-4D97-AF65-F5344CB8AC3E}">
        <p14:creationId xmlns:p14="http://schemas.microsoft.com/office/powerpoint/2010/main" val="6029580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A6818393-A298-48E4-8D47-FE7EC3C88846}" type="datetimeFigureOut">
              <a:rPr lang="en-IN" smtClean="0"/>
              <a:t>19-12-2022</a:t>
            </a:fld>
            <a:endParaRPr lang="en-IN"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IN"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n-lt"/>
              </a:defRPr>
            </a:lvl1pPr>
          </a:lstStyle>
          <a:p>
            <a:fld id="{D65BBC20-5875-413D-A0ED-BACC5E30222F}" type="slidenum">
              <a:rPr lang="en-IN" smtClean="0"/>
              <a:t>‹#›</a:t>
            </a:fld>
            <a:endParaRPr lang="en-IN" dirty="0"/>
          </a:p>
        </p:txBody>
      </p:sp>
    </p:spTree>
    <p:extLst>
      <p:ext uri="{BB962C8B-B14F-4D97-AF65-F5344CB8AC3E}">
        <p14:creationId xmlns:p14="http://schemas.microsoft.com/office/powerpoint/2010/main" val="2720679014"/>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Lst>
  <p:txStyles>
    <p:titleStyle>
      <a:lvl1pPr algn="l" defTabSz="914400" rtl="0" eaLnBrk="1" latinLnBrk="0" hangingPunct="1">
        <a:lnSpc>
          <a:spcPct val="90000"/>
        </a:lnSpc>
        <a:spcBef>
          <a:spcPct val="0"/>
        </a:spcBef>
        <a:buNone/>
        <a:defRPr sz="4800" b="1" kern="1200" cap="none"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3" Type="http://schemas.openxmlformats.org/officeDocument/2006/relationships/image" Target="../media/image19.svg"/><Relationship Id="rId7" Type="http://schemas.openxmlformats.org/officeDocument/2006/relationships/image" Target="../media/image23.svg"/><Relationship Id="rId12" Type="http://schemas.openxmlformats.org/officeDocument/2006/relationships/image" Target="../media/image28.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21.sv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svg"/></Relationships>
</file>

<file path=ppt/slides/_rels/slide10.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1.svg"/><Relationship Id="rId7" Type="http://schemas.openxmlformats.org/officeDocument/2006/relationships/image" Target="../media/image27.svg"/><Relationship Id="rId12" Type="http://schemas.openxmlformats.org/officeDocument/2006/relationships/image" Target="../media/image30.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6.png"/><Relationship Id="rId11" Type="http://schemas.openxmlformats.org/officeDocument/2006/relationships/image" Target="../media/image19.svg"/><Relationship Id="rId5" Type="http://schemas.openxmlformats.org/officeDocument/2006/relationships/image" Target="../media/image23.svg"/><Relationship Id="rId10" Type="http://schemas.openxmlformats.org/officeDocument/2006/relationships/image" Target="../media/image18.png"/><Relationship Id="rId4" Type="http://schemas.openxmlformats.org/officeDocument/2006/relationships/image" Target="../media/image22.png"/><Relationship Id="rId9" Type="http://schemas.openxmlformats.org/officeDocument/2006/relationships/image" Target="../media/image29.svg"/></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791D524-B8B4-234D-7A32-1592952F9D53}"/>
              </a:ext>
            </a:extLst>
          </p:cNvPr>
          <p:cNvSpPr/>
          <p:nvPr/>
        </p:nvSpPr>
        <p:spPr>
          <a:xfrm>
            <a:off x="930027" y="137050"/>
            <a:ext cx="10018448" cy="923330"/>
          </a:xfrm>
          <a:prstGeom prst="rect">
            <a:avLst/>
          </a:prstGeom>
          <a:noFill/>
        </p:spPr>
        <p:txBody>
          <a:bodyPr wrap="none" lIns="91440" tIns="45720" rIns="91440" bIns="45720">
            <a:spAutoFit/>
          </a:bodyPr>
          <a:lstStyle/>
          <a:p>
            <a:pPr algn="ctr"/>
            <a:r>
              <a:rPr lang="en-US" sz="5400" b="1" dirty="0">
                <a:ln w="22225">
                  <a:solidFill>
                    <a:schemeClr val="accent2"/>
                  </a:solidFill>
                  <a:prstDash val="solid"/>
                </a:ln>
                <a:solidFill>
                  <a:schemeClr val="accent2">
                    <a:lumMod val="40000"/>
                    <a:lumOff val="60000"/>
                  </a:schemeClr>
                </a:solidFill>
              </a:rPr>
              <a:t>COMMUNITY SERVICE PROJECT</a:t>
            </a:r>
          </a:p>
        </p:txBody>
      </p:sp>
      <p:sp>
        <p:nvSpPr>
          <p:cNvPr id="5" name="Rectangle 4">
            <a:extLst>
              <a:ext uri="{FF2B5EF4-FFF2-40B4-BE49-F238E27FC236}">
                <a16:creationId xmlns:a16="http://schemas.microsoft.com/office/drawing/2014/main" id="{B7307483-70DD-162E-DFCD-0E5DD8915130}"/>
              </a:ext>
            </a:extLst>
          </p:cNvPr>
          <p:cNvSpPr/>
          <p:nvPr/>
        </p:nvSpPr>
        <p:spPr>
          <a:xfrm>
            <a:off x="1592548" y="1722009"/>
            <a:ext cx="8693405" cy="2123658"/>
          </a:xfrm>
          <a:prstGeom prst="rect">
            <a:avLst/>
          </a:prstGeom>
          <a:noFill/>
        </p:spPr>
        <p:txBody>
          <a:bodyPr wrap="none" lIns="91440" tIns="45720" rIns="91440" bIns="45720">
            <a:spAutoFit/>
          </a:bodyPr>
          <a:lstStyle/>
          <a:p>
            <a:pPr algn="ctr"/>
            <a:r>
              <a:rPr lang="en-US" sz="6600" b="1" dirty="0">
                <a:ln w="13462">
                  <a:solidFill>
                    <a:schemeClr val="bg1"/>
                  </a:solidFill>
                  <a:prstDash val="solid"/>
                </a:ln>
                <a:solidFill>
                  <a:srgbClr val="FF0000"/>
                </a:solidFill>
                <a:effectLst>
                  <a:outerShdw dist="38100" dir="2700000" algn="bl" rotWithShape="0">
                    <a:schemeClr val="accent5"/>
                  </a:outerShdw>
                </a:effectLst>
                <a:latin typeface="Times New Roman" panose="02020603050405020304" pitchFamily="18" charset="0"/>
                <a:cs typeface="Times New Roman" panose="02020603050405020304" pitchFamily="18" charset="0"/>
              </a:rPr>
              <a:t>Passengers Monitoring </a:t>
            </a:r>
          </a:p>
          <a:p>
            <a:pPr algn="ctr"/>
            <a:r>
              <a:rPr lang="en-US" sz="6600" b="1" dirty="0">
                <a:ln w="13462">
                  <a:solidFill>
                    <a:schemeClr val="bg1"/>
                  </a:solidFill>
                  <a:prstDash val="solid"/>
                </a:ln>
                <a:solidFill>
                  <a:srgbClr val="FF0000"/>
                </a:solidFill>
                <a:effectLst>
                  <a:outerShdw dist="38100" dir="2700000" algn="bl" rotWithShape="0">
                    <a:schemeClr val="accent5"/>
                  </a:outerShdw>
                </a:effectLst>
                <a:latin typeface="Times New Roman" panose="02020603050405020304" pitchFamily="18" charset="0"/>
                <a:cs typeface="Times New Roman" panose="02020603050405020304" pitchFamily="18" charset="0"/>
              </a:rPr>
              <a:t>System</a:t>
            </a:r>
            <a:endParaRPr lang="en-US" sz="6600" b="1" cap="none" spc="0" dirty="0">
              <a:ln w="13462">
                <a:solidFill>
                  <a:schemeClr val="bg1"/>
                </a:solidFill>
                <a:prstDash val="solid"/>
              </a:ln>
              <a:solidFill>
                <a:srgbClr val="FF0000"/>
              </a:solidFill>
              <a:effectLst>
                <a:outerShdw dist="38100" dir="2700000" algn="bl" rotWithShape="0">
                  <a:schemeClr val="accent5"/>
                </a:outerShdw>
              </a:effectLst>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824790F0-623D-6D15-B100-26ACBBADF342}"/>
              </a:ext>
            </a:extLst>
          </p:cNvPr>
          <p:cNvSpPr txBox="1"/>
          <p:nvPr/>
        </p:nvSpPr>
        <p:spPr>
          <a:xfrm flipH="1">
            <a:off x="167638" y="4659086"/>
            <a:ext cx="4787539" cy="1631216"/>
          </a:xfrm>
          <a:prstGeom prst="rect">
            <a:avLst/>
          </a:prstGeom>
          <a:noFill/>
        </p:spPr>
        <p:txBody>
          <a:bodyPr wrap="square" rtlCol="0">
            <a:spAutoFit/>
          </a:bodyPr>
          <a:lstStyle/>
          <a:p>
            <a:pPr algn="ctr"/>
            <a:r>
              <a:rPr lang="en-IN" sz="2000" b="1" dirty="0">
                <a:latin typeface="Times New Roman" panose="02020603050405020304" pitchFamily="18" charset="0"/>
                <a:cs typeface="Times New Roman" panose="02020603050405020304" pitchFamily="18" charset="0"/>
              </a:rPr>
              <a:t>Team Members</a:t>
            </a:r>
          </a:p>
          <a:p>
            <a:pPr algn="ctr"/>
            <a:r>
              <a:rPr lang="en-IN" sz="2000" dirty="0">
                <a:latin typeface="Times New Roman" panose="02020603050405020304" pitchFamily="18" charset="0"/>
                <a:cs typeface="Times New Roman" panose="02020603050405020304" pitchFamily="18" charset="0"/>
              </a:rPr>
              <a:t>R. Sai Nithin		20481A5448</a:t>
            </a:r>
          </a:p>
          <a:p>
            <a:pPr algn="ctr"/>
            <a:r>
              <a:rPr lang="en-IN" sz="2000" dirty="0">
                <a:latin typeface="Times New Roman" panose="02020603050405020304" pitchFamily="18" charset="0"/>
                <a:cs typeface="Times New Roman" panose="02020603050405020304" pitchFamily="18" charset="0"/>
              </a:rPr>
              <a:t>A. Khadar Jilani	20481A5401</a:t>
            </a:r>
          </a:p>
          <a:p>
            <a:pPr algn="ctr"/>
            <a:r>
              <a:rPr lang="en-IN" sz="2000" dirty="0">
                <a:latin typeface="Times New Roman" panose="02020603050405020304" pitchFamily="18" charset="0"/>
                <a:cs typeface="Times New Roman" panose="02020603050405020304" pitchFamily="18" charset="0"/>
              </a:rPr>
              <a:t>V. Kondala Rao 	20481A5461</a:t>
            </a:r>
          </a:p>
          <a:p>
            <a:pPr algn="ctr"/>
            <a:r>
              <a:rPr lang="en-IN" sz="2000" dirty="0">
                <a:latin typeface="Times New Roman" panose="02020603050405020304" pitchFamily="18" charset="0"/>
                <a:cs typeface="Times New Roman" panose="02020603050405020304" pitchFamily="18" charset="0"/>
              </a:rPr>
              <a:t>D. Soma Venkat 	20481A5413</a:t>
            </a:r>
          </a:p>
        </p:txBody>
      </p:sp>
      <p:sp>
        <p:nvSpPr>
          <p:cNvPr id="7" name="TextBox 6">
            <a:extLst>
              <a:ext uri="{FF2B5EF4-FFF2-40B4-BE49-F238E27FC236}">
                <a16:creationId xmlns:a16="http://schemas.microsoft.com/office/drawing/2014/main" id="{46E6265D-EF2A-E28A-EA7C-A13908BA89E9}"/>
              </a:ext>
            </a:extLst>
          </p:cNvPr>
          <p:cNvSpPr txBox="1"/>
          <p:nvPr/>
        </p:nvSpPr>
        <p:spPr>
          <a:xfrm>
            <a:off x="7106194" y="5294198"/>
            <a:ext cx="4258492" cy="1200329"/>
          </a:xfrm>
          <a:prstGeom prst="rect">
            <a:avLst/>
          </a:prstGeom>
          <a:no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Co-Ordinator</a:t>
            </a:r>
          </a:p>
          <a:p>
            <a:pPr algn="ctr"/>
            <a:r>
              <a:rPr lang="en-IN" b="1" dirty="0">
                <a:latin typeface="Times New Roman" panose="02020603050405020304" pitchFamily="18" charset="0"/>
                <a:cs typeface="Times New Roman" panose="02020603050405020304" pitchFamily="18" charset="0"/>
              </a:rPr>
              <a:t>Mr. K. Ashok Reddy sir</a:t>
            </a:r>
          </a:p>
          <a:p>
            <a:pPr algn="ctr"/>
            <a:r>
              <a:rPr lang="en-US" dirty="0">
                <a:latin typeface="Times New Roman" panose="02020603050405020304" pitchFamily="18" charset="0"/>
                <a:cs typeface="Times New Roman" panose="02020603050405020304" pitchFamily="18" charset="0"/>
              </a:rPr>
              <a:t>Assistant professor, Department of Artificial Intelligence and Data Science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0594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EC77C48-26BD-36E1-71EE-FA3E1B949CFD}"/>
              </a:ext>
            </a:extLst>
          </p:cNvPr>
          <p:cNvSpPr/>
          <p:nvPr/>
        </p:nvSpPr>
        <p:spPr>
          <a:xfrm>
            <a:off x="3558287" y="0"/>
            <a:ext cx="5075427" cy="923330"/>
          </a:xfrm>
          <a:prstGeom prst="rect">
            <a:avLst/>
          </a:prstGeom>
          <a:noFill/>
        </p:spPr>
        <p:txBody>
          <a:bodyPr wrap="none" lIns="91440" tIns="45720" rIns="91440" bIns="45720">
            <a:spAutoFit/>
          </a:bodyPr>
          <a:lstStyle/>
          <a:p>
            <a:pPr algn="ctr"/>
            <a:r>
              <a:rPr lang="en-US" sz="5400" b="1" dirty="0">
                <a:ln w="22225">
                  <a:solidFill>
                    <a:schemeClr val="accent2"/>
                  </a:solidFill>
                  <a:prstDash val="solid"/>
                </a:ln>
                <a:solidFill>
                  <a:schemeClr val="accent2">
                    <a:lumMod val="40000"/>
                    <a:lumOff val="60000"/>
                  </a:schemeClr>
                </a:solidFill>
                <a:cs typeface="Times New Roman" panose="02020603050405020304" pitchFamily="18" charset="0"/>
              </a:rPr>
              <a:t>INTRODUCTION</a:t>
            </a:r>
          </a:p>
        </p:txBody>
      </p:sp>
      <p:sp>
        <p:nvSpPr>
          <p:cNvPr id="7" name="TextBox 6">
            <a:extLst>
              <a:ext uri="{FF2B5EF4-FFF2-40B4-BE49-F238E27FC236}">
                <a16:creationId xmlns:a16="http://schemas.microsoft.com/office/drawing/2014/main" id="{AF7533C0-729D-0699-B187-DB4B48489AF3}"/>
              </a:ext>
            </a:extLst>
          </p:cNvPr>
          <p:cNvSpPr txBox="1"/>
          <p:nvPr/>
        </p:nvSpPr>
        <p:spPr>
          <a:xfrm>
            <a:off x="1596887" y="923330"/>
            <a:ext cx="8998226" cy="1323439"/>
          </a:xfrm>
          <a:prstGeom prst="rect">
            <a:avLst/>
          </a:prstGeom>
          <a:noFill/>
        </p:spPr>
        <p:txBody>
          <a:bodyPr wrap="square" rtlCol="0">
            <a:spAutoFit/>
          </a:bodyPr>
          <a:lstStyle/>
          <a:p>
            <a:pPr algn="just"/>
            <a:r>
              <a:rPr lang="en-US" sz="2000" dirty="0">
                <a:cs typeface="Times New Roman" panose="02020603050405020304" pitchFamily="18" charset="0"/>
              </a:rPr>
              <a:t>The use of Public Transportation can be increased by the developing the Technology in the Transportation system. In the smart world the technology must very useful to live the life of the huma being in a peaceful way.</a:t>
            </a:r>
          </a:p>
          <a:p>
            <a:pPr algn="just"/>
            <a:r>
              <a:rPr lang="en-US" sz="2000" dirty="0">
                <a:cs typeface="Times New Roman" panose="02020603050405020304" pitchFamily="18" charset="0"/>
              </a:rPr>
              <a:t>In this project we mainly discuss about the  Bus Transportation System</a:t>
            </a:r>
          </a:p>
        </p:txBody>
      </p:sp>
      <p:pic>
        <p:nvPicPr>
          <p:cNvPr id="8" name="Picture 7">
            <a:extLst>
              <a:ext uri="{FF2B5EF4-FFF2-40B4-BE49-F238E27FC236}">
                <a16:creationId xmlns:a16="http://schemas.microsoft.com/office/drawing/2014/main" id="{D7CB2683-E12C-EF5B-1CF6-2775AE380F04}"/>
              </a:ext>
            </a:extLst>
          </p:cNvPr>
          <p:cNvPicPr>
            <a:picLocks noChangeAspect="1"/>
          </p:cNvPicPr>
          <p:nvPr/>
        </p:nvPicPr>
        <p:blipFill>
          <a:blip r:embed="rId2"/>
          <a:stretch>
            <a:fillRect/>
          </a:stretch>
        </p:blipFill>
        <p:spPr>
          <a:xfrm>
            <a:off x="1596887" y="2374174"/>
            <a:ext cx="8879524" cy="4366260"/>
          </a:xfrm>
          <a:prstGeom prst="rect">
            <a:avLst/>
          </a:prstGeom>
        </p:spPr>
      </p:pic>
    </p:spTree>
    <p:extLst>
      <p:ext uri="{BB962C8B-B14F-4D97-AF65-F5344CB8AC3E}">
        <p14:creationId xmlns:p14="http://schemas.microsoft.com/office/powerpoint/2010/main" val="329688441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10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500"/>
                                        <p:tgtEl>
                                          <p:spTgt spid="8"/>
                                        </p:tgtEl>
                                      </p:cBhvr>
                                    </p:animEffect>
                                    <p:anim calcmode="lin" valueType="num">
                                      <p:cBhvr>
                                        <p:cTn id="8" dur="1500" fill="hold"/>
                                        <p:tgtEl>
                                          <p:spTgt spid="8"/>
                                        </p:tgtEl>
                                        <p:attrNameLst>
                                          <p:attrName>ppt_x</p:attrName>
                                        </p:attrNameLst>
                                      </p:cBhvr>
                                      <p:tavLst>
                                        <p:tav tm="0">
                                          <p:val>
                                            <p:strVal val="#ppt_x"/>
                                          </p:val>
                                        </p:tav>
                                        <p:tav tm="100000">
                                          <p:val>
                                            <p:strVal val="#ppt_x"/>
                                          </p:val>
                                        </p:tav>
                                      </p:tavLst>
                                    </p:anim>
                                    <p:anim calcmode="lin" valueType="num">
                                      <p:cBhvr>
                                        <p:cTn id="9" dur="15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22CF97E-30E3-8DB0-C59E-D3EA66A377B6}"/>
              </a:ext>
            </a:extLst>
          </p:cNvPr>
          <p:cNvSpPr txBox="1"/>
          <p:nvPr/>
        </p:nvSpPr>
        <p:spPr>
          <a:xfrm>
            <a:off x="3048000" y="207219"/>
            <a:ext cx="6096000" cy="769441"/>
          </a:xfrm>
          <a:prstGeom prst="rect">
            <a:avLst/>
          </a:prstGeom>
          <a:noFill/>
        </p:spPr>
        <p:txBody>
          <a:bodyPr wrap="square">
            <a:spAutoFit/>
          </a:bodyPr>
          <a:lstStyle/>
          <a:p>
            <a:pPr algn="ctr"/>
            <a:r>
              <a:rPr lang="en-US" sz="4400" b="1" dirty="0">
                <a:ln w="22225">
                  <a:solidFill>
                    <a:schemeClr val="accent2"/>
                  </a:solidFill>
                  <a:prstDash val="solid"/>
                </a:ln>
                <a:solidFill>
                  <a:schemeClr val="accent2">
                    <a:lumMod val="40000"/>
                    <a:lumOff val="60000"/>
                  </a:schemeClr>
                </a:solidFill>
                <a:cs typeface="Times New Roman" panose="02020603050405020304" pitchFamily="18" charset="0"/>
              </a:rPr>
              <a:t>PROBLEM STATEMENT</a:t>
            </a:r>
          </a:p>
        </p:txBody>
      </p:sp>
      <p:sp>
        <p:nvSpPr>
          <p:cNvPr id="6" name="TextBox 5">
            <a:extLst>
              <a:ext uri="{FF2B5EF4-FFF2-40B4-BE49-F238E27FC236}">
                <a16:creationId xmlns:a16="http://schemas.microsoft.com/office/drawing/2014/main" id="{CEFCE558-E9AA-387C-64C3-E89337D0E1F9}"/>
              </a:ext>
            </a:extLst>
          </p:cNvPr>
          <p:cNvSpPr txBox="1"/>
          <p:nvPr/>
        </p:nvSpPr>
        <p:spPr>
          <a:xfrm>
            <a:off x="1767840" y="1071154"/>
            <a:ext cx="8656320" cy="1631216"/>
          </a:xfrm>
          <a:prstGeom prst="rect">
            <a:avLst/>
          </a:prstGeom>
          <a:noFill/>
        </p:spPr>
        <p:txBody>
          <a:bodyPr wrap="square" rtlCol="0">
            <a:spAutoFit/>
          </a:bodyPr>
          <a:lstStyle/>
          <a:p>
            <a:pPr algn="just"/>
            <a:r>
              <a:rPr lang="en-US" sz="2000" dirty="0">
                <a:cs typeface="Times New Roman" panose="02020603050405020304" pitchFamily="18" charset="0"/>
              </a:rPr>
              <a:t>The main problem faced by the  authorities of transportation department and passengers is not knowing the availability of the seats and number of passengers using the Transportation facility.</a:t>
            </a:r>
            <a:r>
              <a:rPr lang="en-US" sz="2000" dirty="0"/>
              <a:t> The typical transportation system where includes various corruption and also added that public do not get their enough good transport system for their comfort.</a:t>
            </a:r>
            <a:endParaRPr lang="en-IN" sz="2000" dirty="0">
              <a:cs typeface="Times New Roman" panose="02020603050405020304" pitchFamily="18" charset="0"/>
            </a:endParaRPr>
          </a:p>
        </p:txBody>
      </p:sp>
      <p:pic>
        <p:nvPicPr>
          <p:cNvPr id="1026" name="Picture 2" descr="31,508 Crowded Bus Images, Stock Photos &amp; Vectors | Shutterstock">
            <a:extLst>
              <a:ext uri="{FF2B5EF4-FFF2-40B4-BE49-F238E27FC236}">
                <a16:creationId xmlns:a16="http://schemas.microsoft.com/office/drawing/2014/main" id="{2CF244EF-8C1A-2F04-29D3-CF244D9828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9072" y="2796864"/>
            <a:ext cx="5006928" cy="391744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16,440 Crowded Bus Stock Photos, Pictures &amp; Royalty-Free Images - iStock">
            <a:extLst>
              <a:ext uri="{FF2B5EF4-FFF2-40B4-BE49-F238E27FC236}">
                <a16:creationId xmlns:a16="http://schemas.microsoft.com/office/drawing/2014/main" id="{BDE1BD08-BC0A-2CF0-CE6C-B33CBE6DD7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6768" y="2796864"/>
            <a:ext cx="4856160" cy="39174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566361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2" presetClass="emph" presetSubtype="0" fill="hold" nodeType="afterEffect">
                                  <p:stCondLst>
                                    <p:cond delay="500"/>
                                  </p:stCondLst>
                                  <p:childTnLst>
                                    <p:animRot by="120000">
                                      <p:cBhvr>
                                        <p:cTn id="6" dur="225" fill="hold">
                                          <p:stCondLst>
                                            <p:cond delay="0"/>
                                          </p:stCondLst>
                                        </p:cTn>
                                        <p:tgtEl>
                                          <p:spTgt spid="1026"/>
                                        </p:tgtEl>
                                        <p:attrNameLst>
                                          <p:attrName>r</p:attrName>
                                        </p:attrNameLst>
                                      </p:cBhvr>
                                    </p:animRot>
                                    <p:animRot by="-240000">
                                      <p:cBhvr>
                                        <p:cTn id="7" dur="450" fill="hold">
                                          <p:stCondLst>
                                            <p:cond delay="450"/>
                                          </p:stCondLst>
                                        </p:cTn>
                                        <p:tgtEl>
                                          <p:spTgt spid="1026"/>
                                        </p:tgtEl>
                                        <p:attrNameLst>
                                          <p:attrName>r</p:attrName>
                                        </p:attrNameLst>
                                      </p:cBhvr>
                                    </p:animRot>
                                    <p:animRot by="240000">
                                      <p:cBhvr>
                                        <p:cTn id="8" dur="450" fill="hold">
                                          <p:stCondLst>
                                            <p:cond delay="900"/>
                                          </p:stCondLst>
                                        </p:cTn>
                                        <p:tgtEl>
                                          <p:spTgt spid="1026"/>
                                        </p:tgtEl>
                                        <p:attrNameLst>
                                          <p:attrName>r</p:attrName>
                                        </p:attrNameLst>
                                      </p:cBhvr>
                                    </p:animRot>
                                    <p:animRot by="-240000">
                                      <p:cBhvr>
                                        <p:cTn id="9" dur="450" fill="hold">
                                          <p:stCondLst>
                                            <p:cond delay="1350"/>
                                          </p:stCondLst>
                                        </p:cTn>
                                        <p:tgtEl>
                                          <p:spTgt spid="1026"/>
                                        </p:tgtEl>
                                        <p:attrNameLst>
                                          <p:attrName>r</p:attrName>
                                        </p:attrNameLst>
                                      </p:cBhvr>
                                    </p:animRot>
                                    <p:animRot by="120000">
                                      <p:cBhvr>
                                        <p:cTn id="10" dur="450" fill="hold">
                                          <p:stCondLst>
                                            <p:cond delay="1800"/>
                                          </p:stCondLst>
                                        </p:cTn>
                                        <p:tgtEl>
                                          <p:spTgt spid="1026"/>
                                        </p:tgtEl>
                                        <p:attrNameLst>
                                          <p:attrName>r</p:attrName>
                                        </p:attrNameLst>
                                      </p:cBhvr>
                                    </p:animRot>
                                  </p:childTnLst>
                                </p:cTn>
                              </p:par>
                            </p:childTnLst>
                          </p:cTn>
                        </p:par>
                        <p:par>
                          <p:cTn id="11" fill="hold">
                            <p:stCondLst>
                              <p:cond delay="2750"/>
                            </p:stCondLst>
                            <p:childTnLst>
                              <p:par>
                                <p:cTn id="12" presetID="32" presetClass="emph" presetSubtype="0" fill="hold" nodeType="afterEffect">
                                  <p:stCondLst>
                                    <p:cond delay="500"/>
                                  </p:stCondLst>
                                  <p:childTnLst>
                                    <p:animRot by="120000">
                                      <p:cBhvr>
                                        <p:cTn id="13" dur="225" fill="hold">
                                          <p:stCondLst>
                                            <p:cond delay="0"/>
                                          </p:stCondLst>
                                        </p:cTn>
                                        <p:tgtEl>
                                          <p:spTgt spid="1028"/>
                                        </p:tgtEl>
                                        <p:attrNameLst>
                                          <p:attrName>r</p:attrName>
                                        </p:attrNameLst>
                                      </p:cBhvr>
                                    </p:animRot>
                                    <p:animRot by="-240000">
                                      <p:cBhvr>
                                        <p:cTn id="14" dur="450" fill="hold">
                                          <p:stCondLst>
                                            <p:cond delay="450"/>
                                          </p:stCondLst>
                                        </p:cTn>
                                        <p:tgtEl>
                                          <p:spTgt spid="1028"/>
                                        </p:tgtEl>
                                        <p:attrNameLst>
                                          <p:attrName>r</p:attrName>
                                        </p:attrNameLst>
                                      </p:cBhvr>
                                    </p:animRot>
                                    <p:animRot by="240000">
                                      <p:cBhvr>
                                        <p:cTn id="15" dur="450" fill="hold">
                                          <p:stCondLst>
                                            <p:cond delay="900"/>
                                          </p:stCondLst>
                                        </p:cTn>
                                        <p:tgtEl>
                                          <p:spTgt spid="1028"/>
                                        </p:tgtEl>
                                        <p:attrNameLst>
                                          <p:attrName>r</p:attrName>
                                        </p:attrNameLst>
                                      </p:cBhvr>
                                    </p:animRot>
                                    <p:animRot by="-240000">
                                      <p:cBhvr>
                                        <p:cTn id="16" dur="450" fill="hold">
                                          <p:stCondLst>
                                            <p:cond delay="1350"/>
                                          </p:stCondLst>
                                        </p:cTn>
                                        <p:tgtEl>
                                          <p:spTgt spid="1028"/>
                                        </p:tgtEl>
                                        <p:attrNameLst>
                                          <p:attrName>r</p:attrName>
                                        </p:attrNameLst>
                                      </p:cBhvr>
                                    </p:animRot>
                                    <p:animRot by="120000">
                                      <p:cBhvr>
                                        <p:cTn id="17" dur="450" fill="hold">
                                          <p:stCondLst>
                                            <p:cond delay="1800"/>
                                          </p:stCondLst>
                                        </p:cTn>
                                        <p:tgtEl>
                                          <p:spTgt spid="1028"/>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95A0CC5-910C-E43A-73BD-5351BC7A0737}"/>
              </a:ext>
            </a:extLst>
          </p:cNvPr>
          <p:cNvSpPr txBox="1"/>
          <p:nvPr/>
        </p:nvSpPr>
        <p:spPr>
          <a:xfrm>
            <a:off x="2699847" y="34835"/>
            <a:ext cx="8256104" cy="769441"/>
          </a:xfrm>
          <a:prstGeom prst="rect">
            <a:avLst/>
          </a:prstGeom>
          <a:noFill/>
        </p:spPr>
        <p:txBody>
          <a:bodyPr wrap="square">
            <a:spAutoFit/>
          </a:bodyPr>
          <a:lstStyle/>
          <a:p>
            <a:r>
              <a:rPr lang="en-IN" sz="4400" b="1" dirty="0">
                <a:ln w="22225">
                  <a:solidFill>
                    <a:schemeClr val="accent2"/>
                  </a:solidFill>
                  <a:prstDash val="solid"/>
                </a:ln>
                <a:solidFill>
                  <a:schemeClr val="accent2">
                    <a:lumMod val="40000"/>
                    <a:lumOff val="60000"/>
                  </a:schemeClr>
                </a:solidFill>
              </a:rPr>
              <a:t>OBJECTIVES OF THE PROJECT</a:t>
            </a:r>
            <a:endParaRPr lang="en-US" sz="4400" b="1" dirty="0">
              <a:ln w="22225">
                <a:solidFill>
                  <a:schemeClr val="accent2"/>
                </a:solidFill>
                <a:prstDash val="solid"/>
              </a:ln>
              <a:solidFill>
                <a:schemeClr val="accent2">
                  <a:lumMod val="40000"/>
                  <a:lumOff val="60000"/>
                </a:schemeClr>
              </a:solidFill>
              <a:cs typeface="Times New Roman" panose="02020603050405020304" pitchFamily="18" charset="0"/>
            </a:endParaRPr>
          </a:p>
        </p:txBody>
      </p:sp>
      <p:sp>
        <p:nvSpPr>
          <p:cNvPr id="6" name="TextBox 5">
            <a:extLst>
              <a:ext uri="{FF2B5EF4-FFF2-40B4-BE49-F238E27FC236}">
                <a16:creationId xmlns:a16="http://schemas.microsoft.com/office/drawing/2014/main" id="{71551850-1A26-3742-94EA-2BC8BCF29DB9}"/>
              </a:ext>
            </a:extLst>
          </p:cNvPr>
          <p:cNvSpPr txBox="1"/>
          <p:nvPr/>
        </p:nvSpPr>
        <p:spPr>
          <a:xfrm>
            <a:off x="687031" y="804850"/>
            <a:ext cx="8001284" cy="400110"/>
          </a:xfrm>
          <a:prstGeom prst="rect">
            <a:avLst/>
          </a:prstGeom>
          <a:noFill/>
        </p:spPr>
        <p:txBody>
          <a:bodyPr wrap="square" rtlCol="0">
            <a:spAutoFit/>
          </a:bodyPr>
          <a:lstStyle/>
          <a:p>
            <a:r>
              <a:rPr lang="en-US" sz="2000" dirty="0"/>
              <a:t>The main Objectives of the Passengers Monitoring System are </a:t>
            </a:r>
            <a:endParaRPr lang="en-IN" sz="2000" dirty="0"/>
          </a:p>
        </p:txBody>
      </p:sp>
      <p:sp>
        <p:nvSpPr>
          <p:cNvPr id="7" name="TextBox 6">
            <a:extLst>
              <a:ext uri="{FF2B5EF4-FFF2-40B4-BE49-F238E27FC236}">
                <a16:creationId xmlns:a16="http://schemas.microsoft.com/office/drawing/2014/main" id="{B0382A93-47D2-3579-88E4-63880CC5B337}"/>
              </a:ext>
            </a:extLst>
          </p:cNvPr>
          <p:cNvSpPr txBox="1"/>
          <p:nvPr/>
        </p:nvSpPr>
        <p:spPr>
          <a:xfrm>
            <a:off x="687031" y="1204385"/>
            <a:ext cx="5711687" cy="400110"/>
          </a:xfrm>
          <a:prstGeom prst="rect">
            <a:avLst/>
          </a:prstGeom>
          <a:noFill/>
        </p:spPr>
        <p:txBody>
          <a:bodyPr wrap="square" rtlCol="0">
            <a:spAutoFit/>
          </a:bodyPr>
          <a:lstStyle/>
          <a:p>
            <a:r>
              <a:rPr lang="en-US" sz="2000" dirty="0"/>
              <a:t>➢ Passengers Count in the bus at that Time. </a:t>
            </a:r>
            <a:endParaRPr lang="en-IN" sz="2000" dirty="0"/>
          </a:p>
        </p:txBody>
      </p:sp>
      <p:sp>
        <p:nvSpPr>
          <p:cNvPr id="9" name="TextBox 8">
            <a:extLst>
              <a:ext uri="{FF2B5EF4-FFF2-40B4-BE49-F238E27FC236}">
                <a16:creationId xmlns:a16="http://schemas.microsoft.com/office/drawing/2014/main" id="{F49AA2BB-D691-74EC-94A2-89B3EE6BB4B1}"/>
              </a:ext>
            </a:extLst>
          </p:cNvPr>
          <p:cNvSpPr txBox="1"/>
          <p:nvPr/>
        </p:nvSpPr>
        <p:spPr>
          <a:xfrm>
            <a:off x="687031" y="1604495"/>
            <a:ext cx="6096000" cy="400110"/>
          </a:xfrm>
          <a:prstGeom prst="rect">
            <a:avLst/>
          </a:prstGeom>
          <a:noFill/>
        </p:spPr>
        <p:txBody>
          <a:bodyPr wrap="square">
            <a:spAutoFit/>
          </a:bodyPr>
          <a:lstStyle/>
          <a:p>
            <a:r>
              <a:rPr lang="en-IN" sz="2000" dirty="0"/>
              <a:t>➢ Increase in user satisfaction.</a:t>
            </a:r>
          </a:p>
        </p:txBody>
      </p:sp>
      <p:sp>
        <p:nvSpPr>
          <p:cNvPr id="11" name="TextBox 10">
            <a:extLst>
              <a:ext uri="{FF2B5EF4-FFF2-40B4-BE49-F238E27FC236}">
                <a16:creationId xmlns:a16="http://schemas.microsoft.com/office/drawing/2014/main" id="{A7417890-5DD2-520F-675D-B896DC596C52}"/>
              </a:ext>
            </a:extLst>
          </p:cNvPr>
          <p:cNvSpPr txBox="1"/>
          <p:nvPr/>
        </p:nvSpPr>
        <p:spPr>
          <a:xfrm>
            <a:off x="687031" y="1996274"/>
            <a:ext cx="6662814" cy="400110"/>
          </a:xfrm>
          <a:prstGeom prst="rect">
            <a:avLst/>
          </a:prstGeom>
          <a:noFill/>
        </p:spPr>
        <p:txBody>
          <a:bodyPr wrap="square">
            <a:spAutoFit/>
          </a:bodyPr>
          <a:lstStyle/>
          <a:p>
            <a:r>
              <a:rPr lang="en-US" sz="2000" dirty="0"/>
              <a:t>➢ Utilize the maximum capacity of a passenger vehicle</a:t>
            </a:r>
            <a:endParaRPr lang="en-IN" sz="2000" dirty="0"/>
          </a:p>
        </p:txBody>
      </p:sp>
      <p:sp>
        <p:nvSpPr>
          <p:cNvPr id="13" name="TextBox 12">
            <a:extLst>
              <a:ext uri="{FF2B5EF4-FFF2-40B4-BE49-F238E27FC236}">
                <a16:creationId xmlns:a16="http://schemas.microsoft.com/office/drawing/2014/main" id="{4900AF8D-0D5D-512F-3CB0-20AF4C8C8DA9}"/>
              </a:ext>
            </a:extLst>
          </p:cNvPr>
          <p:cNvSpPr txBox="1"/>
          <p:nvPr/>
        </p:nvSpPr>
        <p:spPr>
          <a:xfrm>
            <a:off x="687031" y="2397474"/>
            <a:ext cx="8428383" cy="400110"/>
          </a:xfrm>
          <a:prstGeom prst="rect">
            <a:avLst/>
          </a:prstGeom>
          <a:noFill/>
        </p:spPr>
        <p:txBody>
          <a:bodyPr wrap="square">
            <a:spAutoFit/>
          </a:bodyPr>
          <a:lstStyle/>
          <a:p>
            <a:r>
              <a:rPr lang="en-US" sz="2000" dirty="0"/>
              <a:t>➢ Monitor live occupancy to follow social distancing and ensure safety.</a:t>
            </a:r>
            <a:endParaRPr lang="en-IN" sz="2000" dirty="0"/>
          </a:p>
        </p:txBody>
      </p:sp>
      <p:sp>
        <p:nvSpPr>
          <p:cNvPr id="15" name="TextBox 14">
            <a:extLst>
              <a:ext uri="{FF2B5EF4-FFF2-40B4-BE49-F238E27FC236}">
                <a16:creationId xmlns:a16="http://schemas.microsoft.com/office/drawing/2014/main" id="{EF8E0436-7EB1-8E76-DDCF-496C17EF5598}"/>
              </a:ext>
            </a:extLst>
          </p:cNvPr>
          <p:cNvSpPr txBox="1"/>
          <p:nvPr/>
        </p:nvSpPr>
        <p:spPr>
          <a:xfrm>
            <a:off x="687031" y="2808591"/>
            <a:ext cx="6096000" cy="400110"/>
          </a:xfrm>
          <a:prstGeom prst="rect">
            <a:avLst/>
          </a:prstGeom>
          <a:noFill/>
        </p:spPr>
        <p:txBody>
          <a:bodyPr wrap="square">
            <a:spAutoFit/>
          </a:bodyPr>
          <a:lstStyle/>
          <a:p>
            <a:r>
              <a:rPr lang="en-IN" sz="2000" dirty="0"/>
              <a:t>➢ Route optimization</a:t>
            </a:r>
          </a:p>
        </p:txBody>
      </p:sp>
      <p:pic>
        <p:nvPicPr>
          <p:cNvPr id="2052" name="Picture 4" descr="BUS PASSENGERS COUNTING PRODUCT &amp; INTEGRATION SOLUTION - Telematic  Solutions Singapore | SmartComm Electronics | Telematic Solutions Singapore  | SmartComm Electronics">
            <a:extLst>
              <a:ext uri="{FF2B5EF4-FFF2-40B4-BE49-F238E27FC236}">
                <a16:creationId xmlns:a16="http://schemas.microsoft.com/office/drawing/2014/main" id="{9D1ECEE1-6C2D-D5AB-7BB6-E9FB7BC7AF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3219708"/>
            <a:ext cx="11430000" cy="34061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755652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750"/>
                                        <p:tgtEl>
                                          <p:spTgt spid="6"/>
                                        </p:tgtEl>
                                      </p:cBhvr>
                                    </p:animEffect>
                                  </p:childTnLst>
                                </p:cTn>
                              </p:par>
                            </p:childTnLst>
                          </p:cTn>
                        </p:par>
                        <p:par>
                          <p:cTn id="8" fill="hold">
                            <p:stCondLst>
                              <p:cond delay="750"/>
                            </p:stCondLst>
                            <p:childTnLst>
                              <p:par>
                                <p:cTn id="9" presetID="26"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down)">
                                      <p:cBhvr>
                                        <p:cTn id="11" dur="507">
                                          <p:stCondLst>
                                            <p:cond delay="0"/>
                                          </p:stCondLst>
                                        </p:cTn>
                                        <p:tgtEl>
                                          <p:spTgt spid="7"/>
                                        </p:tgtEl>
                                      </p:cBhvr>
                                    </p:animEffect>
                                    <p:anim calcmode="lin" valueType="num">
                                      <p:cBhvr>
                                        <p:cTn id="12" dur="1595"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13" dur="581"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14" dur="581" tmFilter="0, 0; 0.125,0.2665; 0.25,0.4; 0.375,0.465; 0.5,0.5;  0.625,0.535; 0.75,0.6; 0.875,0.7335; 1,1">
                                          <p:stCondLst>
                                            <p:cond delay="581"/>
                                          </p:stCondLst>
                                        </p:cTn>
                                        <p:tgtEl>
                                          <p:spTgt spid="7"/>
                                        </p:tgtEl>
                                        <p:attrNameLst>
                                          <p:attrName>ppt_y</p:attrName>
                                        </p:attrNameLst>
                                      </p:cBhvr>
                                      <p:tavLst>
                                        <p:tav tm="0" fmla="#ppt_y-sin(pi*$)/9">
                                          <p:val>
                                            <p:fltVal val="0"/>
                                          </p:val>
                                        </p:tav>
                                        <p:tav tm="100000">
                                          <p:val>
                                            <p:fltVal val="1"/>
                                          </p:val>
                                        </p:tav>
                                      </p:tavLst>
                                    </p:anim>
                                    <p:anim calcmode="lin" valueType="num">
                                      <p:cBhvr>
                                        <p:cTn id="15" dur="290" tmFilter="0, 0; 0.125,0.2665; 0.25,0.4; 0.375,0.465; 0.5,0.5;  0.625,0.535; 0.75,0.6; 0.875,0.7335; 1,1">
                                          <p:stCondLst>
                                            <p:cond delay="1159"/>
                                          </p:stCondLst>
                                        </p:cTn>
                                        <p:tgtEl>
                                          <p:spTgt spid="7"/>
                                        </p:tgtEl>
                                        <p:attrNameLst>
                                          <p:attrName>ppt_y</p:attrName>
                                        </p:attrNameLst>
                                      </p:cBhvr>
                                      <p:tavLst>
                                        <p:tav tm="0" fmla="#ppt_y-sin(pi*$)/27">
                                          <p:val>
                                            <p:fltVal val="0"/>
                                          </p:val>
                                        </p:tav>
                                        <p:tav tm="100000">
                                          <p:val>
                                            <p:fltVal val="1"/>
                                          </p:val>
                                        </p:tav>
                                      </p:tavLst>
                                    </p:anim>
                                    <p:anim calcmode="lin" valueType="num">
                                      <p:cBhvr>
                                        <p:cTn id="16" dur="144" tmFilter="0, 0; 0.125,0.2665; 0.25,0.4; 0.375,0.465; 0.5,0.5;  0.625,0.535; 0.75,0.6; 0.875,0.7335; 1,1">
                                          <p:stCondLst>
                                            <p:cond delay="1449"/>
                                          </p:stCondLst>
                                        </p:cTn>
                                        <p:tgtEl>
                                          <p:spTgt spid="7"/>
                                        </p:tgtEl>
                                        <p:attrNameLst>
                                          <p:attrName>ppt_y</p:attrName>
                                        </p:attrNameLst>
                                      </p:cBhvr>
                                      <p:tavLst>
                                        <p:tav tm="0" fmla="#ppt_y-sin(pi*$)/81">
                                          <p:val>
                                            <p:fltVal val="0"/>
                                          </p:val>
                                        </p:tav>
                                        <p:tav tm="100000">
                                          <p:val>
                                            <p:fltVal val="1"/>
                                          </p:val>
                                        </p:tav>
                                      </p:tavLst>
                                    </p:anim>
                                    <p:animScale>
                                      <p:cBhvr>
                                        <p:cTn id="17" dur="22">
                                          <p:stCondLst>
                                            <p:cond delay="568"/>
                                          </p:stCondLst>
                                        </p:cTn>
                                        <p:tgtEl>
                                          <p:spTgt spid="7"/>
                                        </p:tgtEl>
                                      </p:cBhvr>
                                      <p:to x="100000" y="60000"/>
                                    </p:animScale>
                                    <p:animScale>
                                      <p:cBhvr>
                                        <p:cTn id="18" dur="146" decel="50000">
                                          <p:stCondLst>
                                            <p:cond delay="592"/>
                                          </p:stCondLst>
                                        </p:cTn>
                                        <p:tgtEl>
                                          <p:spTgt spid="7"/>
                                        </p:tgtEl>
                                      </p:cBhvr>
                                      <p:to x="100000" y="100000"/>
                                    </p:animScale>
                                    <p:animScale>
                                      <p:cBhvr>
                                        <p:cTn id="19" dur="22">
                                          <p:stCondLst>
                                            <p:cond delay="1148"/>
                                          </p:stCondLst>
                                        </p:cTn>
                                        <p:tgtEl>
                                          <p:spTgt spid="7"/>
                                        </p:tgtEl>
                                      </p:cBhvr>
                                      <p:to x="100000" y="80000"/>
                                    </p:animScale>
                                    <p:animScale>
                                      <p:cBhvr>
                                        <p:cTn id="20" dur="146" decel="50000">
                                          <p:stCondLst>
                                            <p:cond delay="1170"/>
                                          </p:stCondLst>
                                        </p:cTn>
                                        <p:tgtEl>
                                          <p:spTgt spid="7"/>
                                        </p:tgtEl>
                                      </p:cBhvr>
                                      <p:to x="100000" y="100000"/>
                                    </p:animScale>
                                    <p:animScale>
                                      <p:cBhvr>
                                        <p:cTn id="21" dur="22">
                                          <p:stCondLst>
                                            <p:cond delay="1436"/>
                                          </p:stCondLst>
                                        </p:cTn>
                                        <p:tgtEl>
                                          <p:spTgt spid="7"/>
                                        </p:tgtEl>
                                      </p:cBhvr>
                                      <p:to x="100000" y="90000"/>
                                    </p:animScale>
                                    <p:animScale>
                                      <p:cBhvr>
                                        <p:cTn id="22" dur="146" decel="50000">
                                          <p:stCondLst>
                                            <p:cond delay="1459"/>
                                          </p:stCondLst>
                                        </p:cTn>
                                        <p:tgtEl>
                                          <p:spTgt spid="7"/>
                                        </p:tgtEl>
                                      </p:cBhvr>
                                      <p:to x="100000" y="100000"/>
                                    </p:animScale>
                                    <p:animScale>
                                      <p:cBhvr>
                                        <p:cTn id="23" dur="22">
                                          <p:stCondLst>
                                            <p:cond delay="1582"/>
                                          </p:stCondLst>
                                        </p:cTn>
                                        <p:tgtEl>
                                          <p:spTgt spid="7"/>
                                        </p:tgtEl>
                                      </p:cBhvr>
                                      <p:to x="100000" y="95000"/>
                                    </p:animScale>
                                    <p:animScale>
                                      <p:cBhvr>
                                        <p:cTn id="24" dur="146" decel="50000">
                                          <p:stCondLst>
                                            <p:cond delay="1604"/>
                                          </p:stCondLst>
                                        </p:cTn>
                                        <p:tgtEl>
                                          <p:spTgt spid="7"/>
                                        </p:tgtEl>
                                      </p:cBhvr>
                                      <p:to x="100000" y="100000"/>
                                    </p:animScale>
                                  </p:childTnLst>
                                </p:cTn>
                              </p:par>
                            </p:childTnLst>
                          </p:cTn>
                        </p:par>
                        <p:par>
                          <p:cTn id="25" fill="hold">
                            <p:stCondLst>
                              <p:cond delay="2500"/>
                            </p:stCondLst>
                            <p:childTnLst>
                              <p:par>
                                <p:cTn id="26" presetID="26" presetClass="entr" presetSubtype="0" fill="hold" grpId="0" nodeType="afterEffect">
                                  <p:stCondLst>
                                    <p:cond delay="750"/>
                                  </p:stCondLst>
                                  <p:childTnLst>
                                    <p:set>
                                      <p:cBhvr>
                                        <p:cTn id="27" dur="1" fill="hold">
                                          <p:stCondLst>
                                            <p:cond delay="0"/>
                                          </p:stCondLst>
                                        </p:cTn>
                                        <p:tgtEl>
                                          <p:spTgt spid="9"/>
                                        </p:tgtEl>
                                        <p:attrNameLst>
                                          <p:attrName>style.visibility</p:attrName>
                                        </p:attrNameLst>
                                      </p:cBhvr>
                                      <p:to>
                                        <p:strVal val="visible"/>
                                      </p:to>
                                    </p:set>
                                    <p:animEffect transition="in" filter="wipe(down)">
                                      <p:cBhvr>
                                        <p:cTn id="28" dur="507">
                                          <p:stCondLst>
                                            <p:cond delay="0"/>
                                          </p:stCondLst>
                                        </p:cTn>
                                        <p:tgtEl>
                                          <p:spTgt spid="9"/>
                                        </p:tgtEl>
                                      </p:cBhvr>
                                    </p:animEffect>
                                    <p:anim calcmode="lin" valueType="num">
                                      <p:cBhvr>
                                        <p:cTn id="29" dur="1595"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30" dur="581"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31" dur="581" tmFilter="0, 0; 0.125,0.2665; 0.25,0.4; 0.375,0.465; 0.5,0.5;  0.625,0.535; 0.75,0.6; 0.875,0.7335; 1,1">
                                          <p:stCondLst>
                                            <p:cond delay="581"/>
                                          </p:stCondLst>
                                        </p:cTn>
                                        <p:tgtEl>
                                          <p:spTgt spid="9"/>
                                        </p:tgtEl>
                                        <p:attrNameLst>
                                          <p:attrName>ppt_y</p:attrName>
                                        </p:attrNameLst>
                                      </p:cBhvr>
                                      <p:tavLst>
                                        <p:tav tm="0" fmla="#ppt_y-sin(pi*$)/9">
                                          <p:val>
                                            <p:fltVal val="0"/>
                                          </p:val>
                                        </p:tav>
                                        <p:tav tm="100000">
                                          <p:val>
                                            <p:fltVal val="1"/>
                                          </p:val>
                                        </p:tav>
                                      </p:tavLst>
                                    </p:anim>
                                    <p:anim calcmode="lin" valueType="num">
                                      <p:cBhvr>
                                        <p:cTn id="32" dur="290" tmFilter="0, 0; 0.125,0.2665; 0.25,0.4; 0.375,0.465; 0.5,0.5;  0.625,0.535; 0.75,0.6; 0.875,0.7335; 1,1">
                                          <p:stCondLst>
                                            <p:cond delay="1159"/>
                                          </p:stCondLst>
                                        </p:cTn>
                                        <p:tgtEl>
                                          <p:spTgt spid="9"/>
                                        </p:tgtEl>
                                        <p:attrNameLst>
                                          <p:attrName>ppt_y</p:attrName>
                                        </p:attrNameLst>
                                      </p:cBhvr>
                                      <p:tavLst>
                                        <p:tav tm="0" fmla="#ppt_y-sin(pi*$)/27">
                                          <p:val>
                                            <p:fltVal val="0"/>
                                          </p:val>
                                        </p:tav>
                                        <p:tav tm="100000">
                                          <p:val>
                                            <p:fltVal val="1"/>
                                          </p:val>
                                        </p:tav>
                                      </p:tavLst>
                                    </p:anim>
                                    <p:anim calcmode="lin" valueType="num">
                                      <p:cBhvr>
                                        <p:cTn id="33" dur="144" tmFilter="0, 0; 0.125,0.2665; 0.25,0.4; 0.375,0.465; 0.5,0.5;  0.625,0.535; 0.75,0.6; 0.875,0.7335; 1,1">
                                          <p:stCondLst>
                                            <p:cond delay="1449"/>
                                          </p:stCondLst>
                                        </p:cTn>
                                        <p:tgtEl>
                                          <p:spTgt spid="9"/>
                                        </p:tgtEl>
                                        <p:attrNameLst>
                                          <p:attrName>ppt_y</p:attrName>
                                        </p:attrNameLst>
                                      </p:cBhvr>
                                      <p:tavLst>
                                        <p:tav tm="0" fmla="#ppt_y-sin(pi*$)/81">
                                          <p:val>
                                            <p:fltVal val="0"/>
                                          </p:val>
                                        </p:tav>
                                        <p:tav tm="100000">
                                          <p:val>
                                            <p:fltVal val="1"/>
                                          </p:val>
                                        </p:tav>
                                      </p:tavLst>
                                    </p:anim>
                                    <p:animScale>
                                      <p:cBhvr>
                                        <p:cTn id="34" dur="22">
                                          <p:stCondLst>
                                            <p:cond delay="568"/>
                                          </p:stCondLst>
                                        </p:cTn>
                                        <p:tgtEl>
                                          <p:spTgt spid="9"/>
                                        </p:tgtEl>
                                      </p:cBhvr>
                                      <p:to x="100000" y="60000"/>
                                    </p:animScale>
                                    <p:animScale>
                                      <p:cBhvr>
                                        <p:cTn id="35" dur="146" decel="50000">
                                          <p:stCondLst>
                                            <p:cond delay="592"/>
                                          </p:stCondLst>
                                        </p:cTn>
                                        <p:tgtEl>
                                          <p:spTgt spid="9"/>
                                        </p:tgtEl>
                                      </p:cBhvr>
                                      <p:to x="100000" y="100000"/>
                                    </p:animScale>
                                    <p:animScale>
                                      <p:cBhvr>
                                        <p:cTn id="36" dur="22">
                                          <p:stCondLst>
                                            <p:cond delay="1148"/>
                                          </p:stCondLst>
                                        </p:cTn>
                                        <p:tgtEl>
                                          <p:spTgt spid="9"/>
                                        </p:tgtEl>
                                      </p:cBhvr>
                                      <p:to x="100000" y="80000"/>
                                    </p:animScale>
                                    <p:animScale>
                                      <p:cBhvr>
                                        <p:cTn id="37" dur="146" decel="50000">
                                          <p:stCondLst>
                                            <p:cond delay="1170"/>
                                          </p:stCondLst>
                                        </p:cTn>
                                        <p:tgtEl>
                                          <p:spTgt spid="9"/>
                                        </p:tgtEl>
                                      </p:cBhvr>
                                      <p:to x="100000" y="100000"/>
                                    </p:animScale>
                                    <p:animScale>
                                      <p:cBhvr>
                                        <p:cTn id="38" dur="22">
                                          <p:stCondLst>
                                            <p:cond delay="1436"/>
                                          </p:stCondLst>
                                        </p:cTn>
                                        <p:tgtEl>
                                          <p:spTgt spid="9"/>
                                        </p:tgtEl>
                                      </p:cBhvr>
                                      <p:to x="100000" y="90000"/>
                                    </p:animScale>
                                    <p:animScale>
                                      <p:cBhvr>
                                        <p:cTn id="39" dur="146" decel="50000">
                                          <p:stCondLst>
                                            <p:cond delay="1459"/>
                                          </p:stCondLst>
                                        </p:cTn>
                                        <p:tgtEl>
                                          <p:spTgt spid="9"/>
                                        </p:tgtEl>
                                      </p:cBhvr>
                                      <p:to x="100000" y="100000"/>
                                    </p:animScale>
                                    <p:animScale>
                                      <p:cBhvr>
                                        <p:cTn id="40" dur="22">
                                          <p:stCondLst>
                                            <p:cond delay="1582"/>
                                          </p:stCondLst>
                                        </p:cTn>
                                        <p:tgtEl>
                                          <p:spTgt spid="9"/>
                                        </p:tgtEl>
                                      </p:cBhvr>
                                      <p:to x="100000" y="95000"/>
                                    </p:animScale>
                                    <p:animScale>
                                      <p:cBhvr>
                                        <p:cTn id="41" dur="146" decel="50000">
                                          <p:stCondLst>
                                            <p:cond delay="1604"/>
                                          </p:stCondLst>
                                        </p:cTn>
                                        <p:tgtEl>
                                          <p:spTgt spid="9"/>
                                        </p:tgtEl>
                                      </p:cBhvr>
                                      <p:to x="100000" y="100000"/>
                                    </p:animScale>
                                  </p:childTnLst>
                                </p:cTn>
                              </p:par>
                            </p:childTnLst>
                          </p:cTn>
                        </p:par>
                        <p:par>
                          <p:cTn id="42" fill="hold">
                            <p:stCondLst>
                              <p:cond delay="5000"/>
                            </p:stCondLst>
                            <p:childTnLst>
                              <p:par>
                                <p:cTn id="43" presetID="26" presetClass="entr" presetSubtype="0" fill="hold" grpId="0" nodeType="afterEffect">
                                  <p:stCondLst>
                                    <p:cond delay="750"/>
                                  </p:stCondLst>
                                  <p:childTnLst>
                                    <p:set>
                                      <p:cBhvr>
                                        <p:cTn id="44" dur="1" fill="hold">
                                          <p:stCondLst>
                                            <p:cond delay="0"/>
                                          </p:stCondLst>
                                        </p:cTn>
                                        <p:tgtEl>
                                          <p:spTgt spid="11"/>
                                        </p:tgtEl>
                                        <p:attrNameLst>
                                          <p:attrName>style.visibility</p:attrName>
                                        </p:attrNameLst>
                                      </p:cBhvr>
                                      <p:to>
                                        <p:strVal val="visible"/>
                                      </p:to>
                                    </p:set>
                                    <p:animEffect transition="in" filter="wipe(down)">
                                      <p:cBhvr>
                                        <p:cTn id="45" dur="507">
                                          <p:stCondLst>
                                            <p:cond delay="0"/>
                                          </p:stCondLst>
                                        </p:cTn>
                                        <p:tgtEl>
                                          <p:spTgt spid="11"/>
                                        </p:tgtEl>
                                      </p:cBhvr>
                                    </p:animEffect>
                                    <p:anim calcmode="lin" valueType="num">
                                      <p:cBhvr>
                                        <p:cTn id="46" dur="1595" tmFilter="0,0; 0.14,0.36; 0.43,0.73; 0.71,0.91; 1.0,1.0">
                                          <p:stCondLst>
                                            <p:cond delay="0"/>
                                          </p:stCondLst>
                                        </p:cTn>
                                        <p:tgtEl>
                                          <p:spTgt spid="11"/>
                                        </p:tgtEl>
                                        <p:attrNameLst>
                                          <p:attrName>ppt_x</p:attrName>
                                        </p:attrNameLst>
                                      </p:cBhvr>
                                      <p:tavLst>
                                        <p:tav tm="0">
                                          <p:val>
                                            <p:strVal val="#ppt_x-0.25"/>
                                          </p:val>
                                        </p:tav>
                                        <p:tav tm="100000">
                                          <p:val>
                                            <p:strVal val="#ppt_x"/>
                                          </p:val>
                                        </p:tav>
                                      </p:tavLst>
                                    </p:anim>
                                    <p:anim calcmode="lin" valueType="num">
                                      <p:cBhvr>
                                        <p:cTn id="47" dur="581" tmFilter="0.0,0.0; 0.25,0.07; 0.50,0.2; 0.75,0.467; 1.0,1.0">
                                          <p:stCondLst>
                                            <p:cond delay="0"/>
                                          </p:stCondLst>
                                        </p:cTn>
                                        <p:tgtEl>
                                          <p:spTgt spid="11"/>
                                        </p:tgtEl>
                                        <p:attrNameLst>
                                          <p:attrName>ppt_y</p:attrName>
                                        </p:attrNameLst>
                                      </p:cBhvr>
                                      <p:tavLst>
                                        <p:tav tm="0" fmla="#ppt_y-sin(pi*$)/3">
                                          <p:val>
                                            <p:fltVal val="0.5"/>
                                          </p:val>
                                        </p:tav>
                                        <p:tav tm="100000">
                                          <p:val>
                                            <p:fltVal val="1"/>
                                          </p:val>
                                        </p:tav>
                                      </p:tavLst>
                                    </p:anim>
                                    <p:anim calcmode="lin" valueType="num">
                                      <p:cBhvr>
                                        <p:cTn id="48" dur="581" tmFilter="0, 0; 0.125,0.2665; 0.25,0.4; 0.375,0.465; 0.5,0.5;  0.625,0.535; 0.75,0.6; 0.875,0.7335; 1,1">
                                          <p:stCondLst>
                                            <p:cond delay="581"/>
                                          </p:stCondLst>
                                        </p:cTn>
                                        <p:tgtEl>
                                          <p:spTgt spid="11"/>
                                        </p:tgtEl>
                                        <p:attrNameLst>
                                          <p:attrName>ppt_y</p:attrName>
                                        </p:attrNameLst>
                                      </p:cBhvr>
                                      <p:tavLst>
                                        <p:tav tm="0" fmla="#ppt_y-sin(pi*$)/9">
                                          <p:val>
                                            <p:fltVal val="0"/>
                                          </p:val>
                                        </p:tav>
                                        <p:tav tm="100000">
                                          <p:val>
                                            <p:fltVal val="1"/>
                                          </p:val>
                                        </p:tav>
                                      </p:tavLst>
                                    </p:anim>
                                    <p:anim calcmode="lin" valueType="num">
                                      <p:cBhvr>
                                        <p:cTn id="49" dur="290" tmFilter="0, 0; 0.125,0.2665; 0.25,0.4; 0.375,0.465; 0.5,0.5;  0.625,0.535; 0.75,0.6; 0.875,0.7335; 1,1">
                                          <p:stCondLst>
                                            <p:cond delay="1159"/>
                                          </p:stCondLst>
                                        </p:cTn>
                                        <p:tgtEl>
                                          <p:spTgt spid="11"/>
                                        </p:tgtEl>
                                        <p:attrNameLst>
                                          <p:attrName>ppt_y</p:attrName>
                                        </p:attrNameLst>
                                      </p:cBhvr>
                                      <p:tavLst>
                                        <p:tav tm="0" fmla="#ppt_y-sin(pi*$)/27">
                                          <p:val>
                                            <p:fltVal val="0"/>
                                          </p:val>
                                        </p:tav>
                                        <p:tav tm="100000">
                                          <p:val>
                                            <p:fltVal val="1"/>
                                          </p:val>
                                        </p:tav>
                                      </p:tavLst>
                                    </p:anim>
                                    <p:anim calcmode="lin" valueType="num">
                                      <p:cBhvr>
                                        <p:cTn id="50" dur="144" tmFilter="0, 0; 0.125,0.2665; 0.25,0.4; 0.375,0.465; 0.5,0.5;  0.625,0.535; 0.75,0.6; 0.875,0.7335; 1,1">
                                          <p:stCondLst>
                                            <p:cond delay="1449"/>
                                          </p:stCondLst>
                                        </p:cTn>
                                        <p:tgtEl>
                                          <p:spTgt spid="11"/>
                                        </p:tgtEl>
                                        <p:attrNameLst>
                                          <p:attrName>ppt_y</p:attrName>
                                        </p:attrNameLst>
                                      </p:cBhvr>
                                      <p:tavLst>
                                        <p:tav tm="0" fmla="#ppt_y-sin(pi*$)/81">
                                          <p:val>
                                            <p:fltVal val="0"/>
                                          </p:val>
                                        </p:tav>
                                        <p:tav tm="100000">
                                          <p:val>
                                            <p:fltVal val="1"/>
                                          </p:val>
                                        </p:tav>
                                      </p:tavLst>
                                    </p:anim>
                                    <p:animScale>
                                      <p:cBhvr>
                                        <p:cTn id="51" dur="22">
                                          <p:stCondLst>
                                            <p:cond delay="568"/>
                                          </p:stCondLst>
                                        </p:cTn>
                                        <p:tgtEl>
                                          <p:spTgt spid="11"/>
                                        </p:tgtEl>
                                      </p:cBhvr>
                                      <p:to x="100000" y="60000"/>
                                    </p:animScale>
                                    <p:animScale>
                                      <p:cBhvr>
                                        <p:cTn id="52" dur="146" decel="50000">
                                          <p:stCondLst>
                                            <p:cond delay="592"/>
                                          </p:stCondLst>
                                        </p:cTn>
                                        <p:tgtEl>
                                          <p:spTgt spid="11"/>
                                        </p:tgtEl>
                                      </p:cBhvr>
                                      <p:to x="100000" y="100000"/>
                                    </p:animScale>
                                    <p:animScale>
                                      <p:cBhvr>
                                        <p:cTn id="53" dur="22">
                                          <p:stCondLst>
                                            <p:cond delay="1148"/>
                                          </p:stCondLst>
                                        </p:cTn>
                                        <p:tgtEl>
                                          <p:spTgt spid="11"/>
                                        </p:tgtEl>
                                      </p:cBhvr>
                                      <p:to x="100000" y="80000"/>
                                    </p:animScale>
                                    <p:animScale>
                                      <p:cBhvr>
                                        <p:cTn id="54" dur="146" decel="50000">
                                          <p:stCondLst>
                                            <p:cond delay="1170"/>
                                          </p:stCondLst>
                                        </p:cTn>
                                        <p:tgtEl>
                                          <p:spTgt spid="11"/>
                                        </p:tgtEl>
                                      </p:cBhvr>
                                      <p:to x="100000" y="100000"/>
                                    </p:animScale>
                                    <p:animScale>
                                      <p:cBhvr>
                                        <p:cTn id="55" dur="22">
                                          <p:stCondLst>
                                            <p:cond delay="1436"/>
                                          </p:stCondLst>
                                        </p:cTn>
                                        <p:tgtEl>
                                          <p:spTgt spid="11"/>
                                        </p:tgtEl>
                                      </p:cBhvr>
                                      <p:to x="100000" y="90000"/>
                                    </p:animScale>
                                    <p:animScale>
                                      <p:cBhvr>
                                        <p:cTn id="56" dur="146" decel="50000">
                                          <p:stCondLst>
                                            <p:cond delay="1459"/>
                                          </p:stCondLst>
                                        </p:cTn>
                                        <p:tgtEl>
                                          <p:spTgt spid="11"/>
                                        </p:tgtEl>
                                      </p:cBhvr>
                                      <p:to x="100000" y="100000"/>
                                    </p:animScale>
                                    <p:animScale>
                                      <p:cBhvr>
                                        <p:cTn id="57" dur="22">
                                          <p:stCondLst>
                                            <p:cond delay="1582"/>
                                          </p:stCondLst>
                                        </p:cTn>
                                        <p:tgtEl>
                                          <p:spTgt spid="11"/>
                                        </p:tgtEl>
                                      </p:cBhvr>
                                      <p:to x="100000" y="95000"/>
                                    </p:animScale>
                                    <p:animScale>
                                      <p:cBhvr>
                                        <p:cTn id="58" dur="146" decel="50000">
                                          <p:stCondLst>
                                            <p:cond delay="1604"/>
                                          </p:stCondLst>
                                        </p:cTn>
                                        <p:tgtEl>
                                          <p:spTgt spid="11"/>
                                        </p:tgtEl>
                                      </p:cBhvr>
                                      <p:to x="100000" y="100000"/>
                                    </p:animScale>
                                  </p:childTnLst>
                                </p:cTn>
                              </p:par>
                            </p:childTnLst>
                          </p:cTn>
                        </p:par>
                        <p:par>
                          <p:cTn id="59" fill="hold">
                            <p:stCondLst>
                              <p:cond delay="7500"/>
                            </p:stCondLst>
                            <p:childTnLst>
                              <p:par>
                                <p:cTn id="60" presetID="26" presetClass="entr" presetSubtype="0" fill="hold" grpId="0" nodeType="afterEffect">
                                  <p:stCondLst>
                                    <p:cond delay="750"/>
                                  </p:stCondLst>
                                  <p:childTnLst>
                                    <p:set>
                                      <p:cBhvr>
                                        <p:cTn id="61" dur="1" fill="hold">
                                          <p:stCondLst>
                                            <p:cond delay="0"/>
                                          </p:stCondLst>
                                        </p:cTn>
                                        <p:tgtEl>
                                          <p:spTgt spid="13"/>
                                        </p:tgtEl>
                                        <p:attrNameLst>
                                          <p:attrName>style.visibility</p:attrName>
                                        </p:attrNameLst>
                                      </p:cBhvr>
                                      <p:to>
                                        <p:strVal val="visible"/>
                                      </p:to>
                                    </p:set>
                                    <p:animEffect transition="in" filter="wipe(down)">
                                      <p:cBhvr>
                                        <p:cTn id="62" dur="507">
                                          <p:stCondLst>
                                            <p:cond delay="0"/>
                                          </p:stCondLst>
                                        </p:cTn>
                                        <p:tgtEl>
                                          <p:spTgt spid="13"/>
                                        </p:tgtEl>
                                      </p:cBhvr>
                                    </p:animEffect>
                                    <p:anim calcmode="lin" valueType="num">
                                      <p:cBhvr>
                                        <p:cTn id="63" dur="1595" tmFilter="0,0; 0.14,0.36; 0.43,0.73; 0.71,0.91; 1.0,1.0">
                                          <p:stCondLst>
                                            <p:cond delay="0"/>
                                          </p:stCondLst>
                                        </p:cTn>
                                        <p:tgtEl>
                                          <p:spTgt spid="13"/>
                                        </p:tgtEl>
                                        <p:attrNameLst>
                                          <p:attrName>ppt_x</p:attrName>
                                        </p:attrNameLst>
                                      </p:cBhvr>
                                      <p:tavLst>
                                        <p:tav tm="0">
                                          <p:val>
                                            <p:strVal val="#ppt_x-0.25"/>
                                          </p:val>
                                        </p:tav>
                                        <p:tav tm="100000">
                                          <p:val>
                                            <p:strVal val="#ppt_x"/>
                                          </p:val>
                                        </p:tav>
                                      </p:tavLst>
                                    </p:anim>
                                    <p:anim calcmode="lin" valueType="num">
                                      <p:cBhvr>
                                        <p:cTn id="64" dur="581" tmFilter="0.0,0.0; 0.25,0.07; 0.50,0.2; 0.75,0.467; 1.0,1.0">
                                          <p:stCondLst>
                                            <p:cond delay="0"/>
                                          </p:stCondLst>
                                        </p:cTn>
                                        <p:tgtEl>
                                          <p:spTgt spid="13"/>
                                        </p:tgtEl>
                                        <p:attrNameLst>
                                          <p:attrName>ppt_y</p:attrName>
                                        </p:attrNameLst>
                                      </p:cBhvr>
                                      <p:tavLst>
                                        <p:tav tm="0" fmla="#ppt_y-sin(pi*$)/3">
                                          <p:val>
                                            <p:fltVal val="0.5"/>
                                          </p:val>
                                        </p:tav>
                                        <p:tav tm="100000">
                                          <p:val>
                                            <p:fltVal val="1"/>
                                          </p:val>
                                        </p:tav>
                                      </p:tavLst>
                                    </p:anim>
                                    <p:anim calcmode="lin" valueType="num">
                                      <p:cBhvr>
                                        <p:cTn id="65" dur="581" tmFilter="0, 0; 0.125,0.2665; 0.25,0.4; 0.375,0.465; 0.5,0.5;  0.625,0.535; 0.75,0.6; 0.875,0.7335; 1,1">
                                          <p:stCondLst>
                                            <p:cond delay="581"/>
                                          </p:stCondLst>
                                        </p:cTn>
                                        <p:tgtEl>
                                          <p:spTgt spid="13"/>
                                        </p:tgtEl>
                                        <p:attrNameLst>
                                          <p:attrName>ppt_y</p:attrName>
                                        </p:attrNameLst>
                                      </p:cBhvr>
                                      <p:tavLst>
                                        <p:tav tm="0" fmla="#ppt_y-sin(pi*$)/9">
                                          <p:val>
                                            <p:fltVal val="0"/>
                                          </p:val>
                                        </p:tav>
                                        <p:tav tm="100000">
                                          <p:val>
                                            <p:fltVal val="1"/>
                                          </p:val>
                                        </p:tav>
                                      </p:tavLst>
                                    </p:anim>
                                    <p:anim calcmode="lin" valueType="num">
                                      <p:cBhvr>
                                        <p:cTn id="66" dur="290" tmFilter="0, 0; 0.125,0.2665; 0.25,0.4; 0.375,0.465; 0.5,0.5;  0.625,0.535; 0.75,0.6; 0.875,0.7335; 1,1">
                                          <p:stCondLst>
                                            <p:cond delay="1159"/>
                                          </p:stCondLst>
                                        </p:cTn>
                                        <p:tgtEl>
                                          <p:spTgt spid="13"/>
                                        </p:tgtEl>
                                        <p:attrNameLst>
                                          <p:attrName>ppt_y</p:attrName>
                                        </p:attrNameLst>
                                      </p:cBhvr>
                                      <p:tavLst>
                                        <p:tav tm="0" fmla="#ppt_y-sin(pi*$)/27">
                                          <p:val>
                                            <p:fltVal val="0"/>
                                          </p:val>
                                        </p:tav>
                                        <p:tav tm="100000">
                                          <p:val>
                                            <p:fltVal val="1"/>
                                          </p:val>
                                        </p:tav>
                                      </p:tavLst>
                                    </p:anim>
                                    <p:anim calcmode="lin" valueType="num">
                                      <p:cBhvr>
                                        <p:cTn id="67" dur="144" tmFilter="0, 0; 0.125,0.2665; 0.25,0.4; 0.375,0.465; 0.5,0.5;  0.625,0.535; 0.75,0.6; 0.875,0.7335; 1,1">
                                          <p:stCondLst>
                                            <p:cond delay="1449"/>
                                          </p:stCondLst>
                                        </p:cTn>
                                        <p:tgtEl>
                                          <p:spTgt spid="13"/>
                                        </p:tgtEl>
                                        <p:attrNameLst>
                                          <p:attrName>ppt_y</p:attrName>
                                        </p:attrNameLst>
                                      </p:cBhvr>
                                      <p:tavLst>
                                        <p:tav tm="0" fmla="#ppt_y-sin(pi*$)/81">
                                          <p:val>
                                            <p:fltVal val="0"/>
                                          </p:val>
                                        </p:tav>
                                        <p:tav tm="100000">
                                          <p:val>
                                            <p:fltVal val="1"/>
                                          </p:val>
                                        </p:tav>
                                      </p:tavLst>
                                    </p:anim>
                                    <p:animScale>
                                      <p:cBhvr>
                                        <p:cTn id="68" dur="22">
                                          <p:stCondLst>
                                            <p:cond delay="568"/>
                                          </p:stCondLst>
                                        </p:cTn>
                                        <p:tgtEl>
                                          <p:spTgt spid="13"/>
                                        </p:tgtEl>
                                      </p:cBhvr>
                                      <p:to x="100000" y="60000"/>
                                    </p:animScale>
                                    <p:animScale>
                                      <p:cBhvr>
                                        <p:cTn id="69" dur="146" decel="50000">
                                          <p:stCondLst>
                                            <p:cond delay="592"/>
                                          </p:stCondLst>
                                        </p:cTn>
                                        <p:tgtEl>
                                          <p:spTgt spid="13"/>
                                        </p:tgtEl>
                                      </p:cBhvr>
                                      <p:to x="100000" y="100000"/>
                                    </p:animScale>
                                    <p:animScale>
                                      <p:cBhvr>
                                        <p:cTn id="70" dur="22">
                                          <p:stCondLst>
                                            <p:cond delay="1148"/>
                                          </p:stCondLst>
                                        </p:cTn>
                                        <p:tgtEl>
                                          <p:spTgt spid="13"/>
                                        </p:tgtEl>
                                      </p:cBhvr>
                                      <p:to x="100000" y="80000"/>
                                    </p:animScale>
                                    <p:animScale>
                                      <p:cBhvr>
                                        <p:cTn id="71" dur="146" decel="50000">
                                          <p:stCondLst>
                                            <p:cond delay="1170"/>
                                          </p:stCondLst>
                                        </p:cTn>
                                        <p:tgtEl>
                                          <p:spTgt spid="13"/>
                                        </p:tgtEl>
                                      </p:cBhvr>
                                      <p:to x="100000" y="100000"/>
                                    </p:animScale>
                                    <p:animScale>
                                      <p:cBhvr>
                                        <p:cTn id="72" dur="22">
                                          <p:stCondLst>
                                            <p:cond delay="1436"/>
                                          </p:stCondLst>
                                        </p:cTn>
                                        <p:tgtEl>
                                          <p:spTgt spid="13"/>
                                        </p:tgtEl>
                                      </p:cBhvr>
                                      <p:to x="100000" y="90000"/>
                                    </p:animScale>
                                    <p:animScale>
                                      <p:cBhvr>
                                        <p:cTn id="73" dur="146" decel="50000">
                                          <p:stCondLst>
                                            <p:cond delay="1459"/>
                                          </p:stCondLst>
                                        </p:cTn>
                                        <p:tgtEl>
                                          <p:spTgt spid="13"/>
                                        </p:tgtEl>
                                      </p:cBhvr>
                                      <p:to x="100000" y="100000"/>
                                    </p:animScale>
                                    <p:animScale>
                                      <p:cBhvr>
                                        <p:cTn id="74" dur="22">
                                          <p:stCondLst>
                                            <p:cond delay="1582"/>
                                          </p:stCondLst>
                                        </p:cTn>
                                        <p:tgtEl>
                                          <p:spTgt spid="13"/>
                                        </p:tgtEl>
                                      </p:cBhvr>
                                      <p:to x="100000" y="95000"/>
                                    </p:animScale>
                                    <p:animScale>
                                      <p:cBhvr>
                                        <p:cTn id="75" dur="146" decel="50000">
                                          <p:stCondLst>
                                            <p:cond delay="1604"/>
                                          </p:stCondLst>
                                        </p:cTn>
                                        <p:tgtEl>
                                          <p:spTgt spid="13"/>
                                        </p:tgtEl>
                                      </p:cBhvr>
                                      <p:to x="100000" y="100000"/>
                                    </p:animScale>
                                  </p:childTnLst>
                                </p:cTn>
                              </p:par>
                            </p:childTnLst>
                          </p:cTn>
                        </p:par>
                        <p:par>
                          <p:cTn id="76" fill="hold">
                            <p:stCondLst>
                              <p:cond delay="10000"/>
                            </p:stCondLst>
                            <p:childTnLst>
                              <p:par>
                                <p:cTn id="77" presetID="26" presetClass="entr" presetSubtype="0" fill="hold" grpId="0" nodeType="afterEffect">
                                  <p:stCondLst>
                                    <p:cond delay="250"/>
                                  </p:stCondLst>
                                  <p:childTnLst>
                                    <p:set>
                                      <p:cBhvr>
                                        <p:cTn id="78" dur="1" fill="hold">
                                          <p:stCondLst>
                                            <p:cond delay="0"/>
                                          </p:stCondLst>
                                        </p:cTn>
                                        <p:tgtEl>
                                          <p:spTgt spid="15"/>
                                        </p:tgtEl>
                                        <p:attrNameLst>
                                          <p:attrName>style.visibility</p:attrName>
                                        </p:attrNameLst>
                                      </p:cBhvr>
                                      <p:to>
                                        <p:strVal val="visible"/>
                                      </p:to>
                                    </p:set>
                                    <p:animEffect transition="in" filter="wipe(down)">
                                      <p:cBhvr>
                                        <p:cTn id="79" dur="434">
                                          <p:stCondLst>
                                            <p:cond delay="0"/>
                                          </p:stCondLst>
                                        </p:cTn>
                                        <p:tgtEl>
                                          <p:spTgt spid="15"/>
                                        </p:tgtEl>
                                      </p:cBhvr>
                                    </p:animEffect>
                                    <p:anim calcmode="lin" valueType="num">
                                      <p:cBhvr>
                                        <p:cTn id="80" dur="1367" tmFilter="0,0; 0.14,0.36; 0.43,0.73; 0.71,0.91; 1.0,1.0">
                                          <p:stCondLst>
                                            <p:cond delay="0"/>
                                          </p:stCondLst>
                                        </p:cTn>
                                        <p:tgtEl>
                                          <p:spTgt spid="15"/>
                                        </p:tgtEl>
                                        <p:attrNameLst>
                                          <p:attrName>ppt_x</p:attrName>
                                        </p:attrNameLst>
                                      </p:cBhvr>
                                      <p:tavLst>
                                        <p:tav tm="0">
                                          <p:val>
                                            <p:strVal val="#ppt_x-0.25"/>
                                          </p:val>
                                        </p:tav>
                                        <p:tav tm="100000">
                                          <p:val>
                                            <p:strVal val="#ppt_x"/>
                                          </p:val>
                                        </p:tav>
                                      </p:tavLst>
                                    </p:anim>
                                    <p:anim calcmode="lin" valueType="num">
                                      <p:cBhvr>
                                        <p:cTn id="81" dur="498" tmFilter="0.0,0.0; 0.25,0.07; 0.50,0.2; 0.75,0.467; 1.0,1.0">
                                          <p:stCondLst>
                                            <p:cond delay="0"/>
                                          </p:stCondLst>
                                        </p:cTn>
                                        <p:tgtEl>
                                          <p:spTgt spid="15"/>
                                        </p:tgtEl>
                                        <p:attrNameLst>
                                          <p:attrName>ppt_y</p:attrName>
                                        </p:attrNameLst>
                                      </p:cBhvr>
                                      <p:tavLst>
                                        <p:tav tm="0" fmla="#ppt_y-sin(pi*$)/3">
                                          <p:val>
                                            <p:fltVal val="0.5"/>
                                          </p:val>
                                        </p:tav>
                                        <p:tav tm="100000">
                                          <p:val>
                                            <p:fltVal val="1"/>
                                          </p:val>
                                        </p:tav>
                                      </p:tavLst>
                                    </p:anim>
                                    <p:anim calcmode="lin" valueType="num">
                                      <p:cBhvr>
                                        <p:cTn id="82" dur="498" tmFilter="0, 0; 0.125,0.2665; 0.25,0.4; 0.375,0.465; 0.5,0.5;  0.625,0.535; 0.75,0.6; 0.875,0.7335; 1,1">
                                          <p:stCondLst>
                                            <p:cond delay="498"/>
                                          </p:stCondLst>
                                        </p:cTn>
                                        <p:tgtEl>
                                          <p:spTgt spid="15"/>
                                        </p:tgtEl>
                                        <p:attrNameLst>
                                          <p:attrName>ppt_y</p:attrName>
                                        </p:attrNameLst>
                                      </p:cBhvr>
                                      <p:tavLst>
                                        <p:tav tm="0" fmla="#ppt_y-sin(pi*$)/9">
                                          <p:val>
                                            <p:fltVal val="0"/>
                                          </p:val>
                                        </p:tav>
                                        <p:tav tm="100000">
                                          <p:val>
                                            <p:fltVal val="1"/>
                                          </p:val>
                                        </p:tav>
                                      </p:tavLst>
                                    </p:anim>
                                    <p:anim calcmode="lin" valueType="num">
                                      <p:cBhvr>
                                        <p:cTn id="83" dur="248" tmFilter="0, 0; 0.125,0.2665; 0.25,0.4; 0.375,0.465; 0.5,0.5;  0.625,0.535; 0.75,0.6; 0.875,0.7335; 1,1">
                                          <p:stCondLst>
                                            <p:cond delay="994"/>
                                          </p:stCondLst>
                                        </p:cTn>
                                        <p:tgtEl>
                                          <p:spTgt spid="15"/>
                                        </p:tgtEl>
                                        <p:attrNameLst>
                                          <p:attrName>ppt_y</p:attrName>
                                        </p:attrNameLst>
                                      </p:cBhvr>
                                      <p:tavLst>
                                        <p:tav tm="0" fmla="#ppt_y-sin(pi*$)/27">
                                          <p:val>
                                            <p:fltVal val="0"/>
                                          </p:val>
                                        </p:tav>
                                        <p:tav tm="100000">
                                          <p:val>
                                            <p:fltVal val="1"/>
                                          </p:val>
                                        </p:tav>
                                      </p:tavLst>
                                    </p:anim>
                                    <p:anim calcmode="lin" valueType="num">
                                      <p:cBhvr>
                                        <p:cTn id="84" dur="124" tmFilter="0, 0; 0.125,0.2665; 0.25,0.4; 0.375,0.465; 0.5,0.5;  0.625,0.535; 0.75,0.6; 0.875,0.7335; 1,1">
                                          <p:stCondLst>
                                            <p:cond delay="1242"/>
                                          </p:stCondLst>
                                        </p:cTn>
                                        <p:tgtEl>
                                          <p:spTgt spid="15"/>
                                        </p:tgtEl>
                                        <p:attrNameLst>
                                          <p:attrName>ppt_y</p:attrName>
                                        </p:attrNameLst>
                                      </p:cBhvr>
                                      <p:tavLst>
                                        <p:tav tm="0" fmla="#ppt_y-sin(pi*$)/81">
                                          <p:val>
                                            <p:fltVal val="0"/>
                                          </p:val>
                                        </p:tav>
                                        <p:tav tm="100000">
                                          <p:val>
                                            <p:fltVal val="1"/>
                                          </p:val>
                                        </p:tav>
                                      </p:tavLst>
                                    </p:anim>
                                    <p:animScale>
                                      <p:cBhvr>
                                        <p:cTn id="85" dur="19">
                                          <p:stCondLst>
                                            <p:cond delay="487"/>
                                          </p:stCondLst>
                                        </p:cTn>
                                        <p:tgtEl>
                                          <p:spTgt spid="15"/>
                                        </p:tgtEl>
                                      </p:cBhvr>
                                      <p:to x="100000" y="60000"/>
                                    </p:animScale>
                                    <p:animScale>
                                      <p:cBhvr>
                                        <p:cTn id="86" dur="125" decel="50000">
                                          <p:stCondLst>
                                            <p:cond delay="508"/>
                                          </p:stCondLst>
                                        </p:cTn>
                                        <p:tgtEl>
                                          <p:spTgt spid="15"/>
                                        </p:tgtEl>
                                      </p:cBhvr>
                                      <p:to x="100000" y="100000"/>
                                    </p:animScale>
                                    <p:animScale>
                                      <p:cBhvr>
                                        <p:cTn id="87" dur="19">
                                          <p:stCondLst>
                                            <p:cond delay="984"/>
                                          </p:stCondLst>
                                        </p:cTn>
                                        <p:tgtEl>
                                          <p:spTgt spid="15"/>
                                        </p:tgtEl>
                                      </p:cBhvr>
                                      <p:to x="100000" y="80000"/>
                                    </p:animScale>
                                    <p:animScale>
                                      <p:cBhvr>
                                        <p:cTn id="88" dur="125" decel="50000">
                                          <p:stCondLst>
                                            <p:cond delay="1003"/>
                                          </p:stCondLst>
                                        </p:cTn>
                                        <p:tgtEl>
                                          <p:spTgt spid="15"/>
                                        </p:tgtEl>
                                      </p:cBhvr>
                                      <p:to x="100000" y="100000"/>
                                    </p:animScale>
                                    <p:animScale>
                                      <p:cBhvr>
                                        <p:cTn id="89" dur="19">
                                          <p:stCondLst>
                                            <p:cond delay="1231"/>
                                          </p:stCondLst>
                                        </p:cTn>
                                        <p:tgtEl>
                                          <p:spTgt spid="15"/>
                                        </p:tgtEl>
                                      </p:cBhvr>
                                      <p:to x="100000" y="90000"/>
                                    </p:animScale>
                                    <p:animScale>
                                      <p:cBhvr>
                                        <p:cTn id="90" dur="125" decel="50000">
                                          <p:stCondLst>
                                            <p:cond delay="1250"/>
                                          </p:stCondLst>
                                        </p:cTn>
                                        <p:tgtEl>
                                          <p:spTgt spid="15"/>
                                        </p:tgtEl>
                                      </p:cBhvr>
                                      <p:to x="100000" y="100000"/>
                                    </p:animScale>
                                    <p:animScale>
                                      <p:cBhvr>
                                        <p:cTn id="91" dur="19">
                                          <p:stCondLst>
                                            <p:cond delay="1356"/>
                                          </p:stCondLst>
                                        </p:cTn>
                                        <p:tgtEl>
                                          <p:spTgt spid="15"/>
                                        </p:tgtEl>
                                      </p:cBhvr>
                                      <p:to x="100000" y="95000"/>
                                    </p:animScale>
                                    <p:animScale>
                                      <p:cBhvr>
                                        <p:cTn id="92" dur="125" decel="50000">
                                          <p:stCondLst>
                                            <p:cond delay="1375"/>
                                          </p:stCondLst>
                                        </p:cTn>
                                        <p:tgtEl>
                                          <p:spTgt spid="15"/>
                                        </p:tgtEl>
                                      </p:cBhvr>
                                      <p:to x="100000" y="100000"/>
                                    </p:animScale>
                                  </p:childTnLst>
                                </p:cTn>
                              </p:par>
                            </p:childTnLst>
                          </p:cTn>
                        </p:par>
                        <p:par>
                          <p:cTn id="93" fill="hold">
                            <p:stCondLst>
                              <p:cond delay="11750"/>
                            </p:stCondLst>
                            <p:childTnLst>
                              <p:par>
                                <p:cTn id="94" presetID="22" presetClass="entr" presetSubtype="4" fill="hold" nodeType="afterEffect">
                                  <p:stCondLst>
                                    <p:cond delay="250"/>
                                  </p:stCondLst>
                                  <p:childTnLst>
                                    <p:set>
                                      <p:cBhvr>
                                        <p:cTn id="95" dur="1" fill="hold">
                                          <p:stCondLst>
                                            <p:cond delay="0"/>
                                          </p:stCondLst>
                                        </p:cTn>
                                        <p:tgtEl>
                                          <p:spTgt spid="2052"/>
                                        </p:tgtEl>
                                        <p:attrNameLst>
                                          <p:attrName>style.visibility</p:attrName>
                                        </p:attrNameLst>
                                      </p:cBhvr>
                                      <p:to>
                                        <p:strVal val="visible"/>
                                      </p:to>
                                    </p:set>
                                    <p:animEffect transition="in" filter="wipe(down)">
                                      <p:cBhvr>
                                        <p:cTn id="96" dur="1250"/>
                                        <p:tgtEl>
                                          <p:spTgt spid="20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P spid="11" grpId="0"/>
      <p:bldP spid="13" grpId="0"/>
      <p:bldP spid="1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CE525B6-262A-33A5-2F3F-9F275D47CB4A}"/>
              </a:ext>
            </a:extLst>
          </p:cNvPr>
          <p:cNvSpPr txBox="1"/>
          <p:nvPr/>
        </p:nvSpPr>
        <p:spPr>
          <a:xfrm>
            <a:off x="3048000" y="0"/>
            <a:ext cx="6096000" cy="830997"/>
          </a:xfrm>
          <a:prstGeom prst="rect">
            <a:avLst/>
          </a:prstGeom>
          <a:noFill/>
        </p:spPr>
        <p:txBody>
          <a:bodyPr wrap="square">
            <a:spAutoFit/>
          </a:bodyPr>
          <a:lstStyle/>
          <a:p>
            <a:r>
              <a:rPr lang="en-US" sz="4800" b="1" dirty="0">
                <a:ln w="22225">
                  <a:solidFill>
                    <a:schemeClr val="accent2"/>
                  </a:solidFill>
                  <a:prstDash val="solid"/>
                </a:ln>
                <a:solidFill>
                  <a:schemeClr val="accent2">
                    <a:lumMod val="40000"/>
                    <a:lumOff val="60000"/>
                  </a:schemeClr>
                </a:solidFill>
                <a:cs typeface="Times New Roman" panose="02020603050405020304" pitchFamily="18" charset="0"/>
              </a:rPr>
              <a:t>PROPOSED METHOD</a:t>
            </a:r>
          </a:p>
        </p:txBody>
      </p:sp>
      <p:sp>
        <p:nvSpPr>
          <p:cNvPr id="6" name="TextBox 5">
            <a:extLst>
              <a:ext uri="{FF2B5EF4-FFF2-40B4-BE49-F238E27FC236}">
                <a16:creationId xmlns:a16="http://schemas.microsoft.com/office/drawing/2014/main" id="{DDBCCC58-C820-73B8-6AB5-85B2F06167B0}"/>
              </a:ext>
            </a:extLst>
          </p:cNvPr>
          <p:cNvSpPr txBox="1"/>
          <p:nvPr/>
        </p:nvSpPr>
        <p:spPr>
          <a:xfrm>
            <a:off x="768626" y="830997"/>
            <a:ext cx="10349948" cy="1323439"/>
          </a:xfrm>
          <a:prstGeom prst="rect">
            <a:avLst/>
          </a:prstGeom>
          <a:noFill/>
        </p:spPr>
        <p:txBody>
          <a:bodyPr wrap="square" rtlCol="0">
            <a:spAutoFit/>
          </a:bodyPr>
          <a:lstStyle/>
          <a:p>
            <a:pPr algn="just"/>
            <a:r>
              <a:rPr lang="en-US" sz="2000" dirty="0"/>
              <a:t>In this project, we will make a Bidirectional Passengers Counter with an Automatic Light Control as a proto type System using Arduino. This project is based on a pair of Infrared Sensor that detects interrupt when it detects an obstacle. The pair of IR sensors can detect the visitor from both directions, i.e., the number of entering passengers and the</a:t>
            </a:r>
            <a:endParaRPr lang="en-IN" sz="2000" dirty="0"/>
          </a:p>
        </p:txBody>
      </p:sp>
      <p:pic>
        <p:nvPicPr>
          <p:cNvPr id="3074" name="Picture 2" descr="automatic passenger counting, Passenger Counting - Transport -  letgetgoing.com">
            <a:extLst>
              <a:ext uri="{FF2B5EF4-FFF2-40B4-BE49-F238E27FC236}">
                <a16:creationId xmlns:a16="http://schemas.microsoft.com/office/drawing/2014/main" id="{D0EC7C03-BEB3-8F4E-1F7E-D3EECF2745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28522" y="2092226"/>
            <a:ext cx="5194852" cy="1631216"/>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2E8432C3-6815-EF60-5CF0-6FA2F76E53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28522" y="3950166"/>
            <a:ext cx="5194852" cy="2424130"/>
          </a:xfrm>
          <a:prstGeom prst="rect">
            <a:avLst/>
          </a:prstGeom>
        </p:spPr>
      </p:pic>
      <p:sp>
        <p:nvSpPr>
          <p:cNvPr id="15" name="TextBox 14">
            <a:extLst>
              <a:ext uri="{FF2B5EF4-FFF2-40B4-BE49-F238E27FC236}">
                <a16:creationId xmlns:a16="http://schemas.microsoft.com/office/drawing/2014/main" id="{04802291-4FF5-9056-1CBB-B4B484F544A3}"/>
              </a:ext>
            </a:extLst>
          </p:cNvPr>
          <p:cNvSpPr txBox="1"/>
          <p:nvPr/>
        </p:nvSpPr>
        <p:spPr>
          <a:xfrm>
            <a:off x="768626" y="3061722"/>
            <a:ext cx="5194853" cy="1323439"/>
          </a:xfrm>
          <a:prstGeom prst="rect">
            <a:avLst/>
          </a:prstGeom>
          <a:noFill/>
        </p:spPr>
        <p:txBody>
          <a:bodyPr wrap="square">
            <a:spAutoFit/>
          </a:bodyPr>
          <a:lstStyle/>
          <a:p>
            <a:pPr algn="just"/>
            <a:r>
              <a:rPr lang="en-US" sz="2000" dirty="0"/>
              <a:t>Using this IOT based device, it is user friendly and has exceptional features like showing availability of seats, number of passengers are on the bus etc.…</a:t>
            </a:r>
            <a:endParaRPr lang="en-IN" sz="2000" dirty="0"/>
          </a:p>
        </p:txBody>
      </p:sp>
      <p:sp>
        <p:nvSpPr>
          <p:cNvPr id="17" name="TextBox 16">
            <a:extLst>
              <a:ext uri="{FF2B5EF4-FFF2-40B4-BE49-F238E27FC236}">
                <a16:creationId xmlns:a16="http://schemas.microsoft.com/office/drawing/2014/main" id="{3B5AA7C3-799C-5EFC-F697-8990B7C7D1F5}"/>
              </a:ext>
            </a:extLst>
          </p:cNvPr>
          <p:cNvSpPr txBox="1"/>
          <p:nvPr/>
        </p:nvSpPr>
        <p:spPr>
          <a:xfrm>
            <a:off x="768626" y="2060561"/>
            <a:ext cx="5605670" cy="707886"/>
          </a:xfrm>
          <a:prstGeom prst="rect">
            <a:avLst/>
          </a:prstGeom>
          <a:noFill/>
        </p:spPr>
        <p:txBody>
          <a:bodyPr wrap="square">
            <a:spAutoFit/>
          </a:bodyPr>
          <a:lstStyle/>
          <a:p>
            <a:r>
              <a:rPr lang="en-US" sz="2000" dirty="0"/>
              <a:t>number of exiting passengers, which is placed at the entrance gate of the bus.</a:t>
            </a:r>
            <a:endParaRPr lang="en-IN" sz="2000" dirty="0"/>
          </a:p>
        </p:txBody>
      </p:sp>
      <p:sp>
        <p:nvSpPr>
          <p:cNvPr id="19" name="TextBox 18">
            <a:extLst>
              <a:ext uri="{FF2B5EF4-FFF2-40B4-BE49-F238E27FC236}">
                <a16:creationId xmlns:a16="http://schemas.microsoft.com/office/drawing/2014/main" id="{43FA27FB-7F8C-5F12-546D-7A8FB17724B0}"/>
              </a:ext>
            </a:extLst>
          </p:cNvPr>
          <p:cNvSpPr txBox="1"/>
          <p:nvPr/>
        </p:nvSpPr>
        <p:spPr>
          <a:xfrm>
            <a:off x="768625" y="4385161"/>
            <a:ext cx="5194854" cy="707886"/>
          </a:xfrm>
          <a:prstGeom prst="rect">
            <a:avLst/>
          </a:prstGeom>
          <a:noFill/>
        </p:spPr>
        <p:txBody>
          <a:bodyPr wrap="square">
            <a:spAutoFit/>
          </a:bodyPr>
          <a:lstStyle/>
          <a:p>
            <a:r>
              <a:rPr lang="en-US" sz="2000" dirty="0"/>
              <a:t>The light control system is automatic based on the passenger’s presence. </a:t>
            </a:r>
            <a:endParaRPr lang="en-IN" sz="2000" dirty="0"/>
          </a:p>
        </p:txBody>
      </p:sp>
    </p:spTree>
    <p:extLst>
      <p:ext uri="{BB962C8B-B14F-4D97-AF65-F5344CB8AC3E}">
        <p14:creationId xmlns:p14="http://schemas.microsoft.com/office/powerpoint/2010/main" val="317062696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5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750"/>
                                  </p:stCondLst>
                                  <p:childTnLst>
                                    <p:set>
                                      <p:cBhvr>
                                        <p:cTn id="6" dur="1" fill="hold">
                                          <p:stCondLst>
                                            <p:cond delay="0"/>
                                          </p:stCondLst>
                                        </p:cTn>
                                        <p:tgtEl>
                                          <p:spTgt spid="3074"/>
                                        </p:tgtEl>
                                        <p:attrNameLst>
                                          <p:attrName>style.visibility</p:attrName>
                                        </p:attrNameLst>
                                      </p:cBhvr>
                                      <p:to>
                                        <p:strVal val="visible"/>
                                      </p:to>
                                    </p:set>
                                    <p:animEffect transition="in" filter="wipe(down)">
                                      <p:cBhvr>
                                        <p:cTn id="7" dur="1500"/>
                                        <p:tgtEl>
                                          <p:spTgt spid="3074"/>
                                        </p:tgtEl>
                                      </p:cBhvr>
                                    </p:animEffect>
                                  </p:childTnLst>
                                </p:cTn>
                              </p:par>
                            </p:childTnLst>
                          </p:cTn>
                        </p:par>
                        <p:par>
                          <p:cTn id="8" fill="hold">
                            <p:stCondLst>
                              <p:cond delay="2250"/>
                            </p:stCondLst>
                            <p:childTnLst>
                              <p:par>
                                <p:cTn id="9" presetID="22" presetClass="entr" presetSubtype="4" fill="hold" nodeType="afterEffect">
                                  <p:stCondLst>
                                    <p:cond delay="1250"/>
                                  </p:stCondLst>
                                  <p:childTnLst>
                                    <p:set>
                                      <p:cBhvr>
                                        <p:cTn id="10" dur="1" fill="hold">
                                          <p:stCondLst>
                                            <p:cond delay="0"/>
                                          </p:stCondLst>
                                        </p:cTn>
                                        <p:tgtEl>
                                          <p:spTgt spid="13"/>
                                        </p:tgtEl>
                                        <p:attrNameLst>
                                          <p:attrName>style.visibility</p:attrName>
                                        </p:attrNameLst>
                                      </p:cBhvr>
                                      <p:to>
                                        <p:strVal val="visible"/>
                                      </p:to>
                                    </p:set>
                                    <p:animEffect transition="in" filter="wipe(down)">
                                      <p:cBhvr>
                                        <p:cTn id="11" dur="1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B3A51506-663A-155B-467E-FC3C18199C33}"/>
              </a:ext>
            </a:extLst>
          </p:cNvPr>
          <p:cNvSpPr txBox="1"/>
          <p:nvPr/>
        </p:nvSpPr>
        <p:spPr>
          <a:xfrm>
            <a:off x="2484782" y="0"/>
            <a:ext cx="7222435" cy="769441"/>
          </a:xfrm>
          <a:prstGeom prst="rect">
            <a:avLst/>
          </a:prstGeom>
          <a:noFill/>
        </p:spPr>
        <p:txBody>
          <a:bodyPr wrap="square">
            <a:spAutoFit/>
          </a:bodyPr>
          <a:lstStyle/>
          <a:p>
            <a:r>
              <a:rPr lang="en-US" sz="4400" b="1" dirty="0">
                <a:ln w="22225">
                  <a:solidFill>
                    <a:schemeClr val="accent2"/>
                  </a:solidFill>
                  <a:prstDash val="solid"/>
                </a:ln>
                <a:solidFill>
                  <a:schemeClr val="accent2">
                    <a:lumMod val="40000"/>
                    <a:lumOff val="60000"/>
                  </a:schemeClr>
                </a:solidFill>
                <a:cs typeface="Times New Roman" panose="02020603050405020304" pitchFamily="18" charset="0"/>
              </a:rPr>
              <a:t>COMPONENTS REQUIRED</a:t>
            </a:r>
          </a:p>
        </p:txBody>
      </p:sp>
      <p:sp>
        <p:nvSpPr>
          <p:cNvPr id="9" name="TextBox 8">
            <a:extLst>
              <a:ext uri="{FF2B5EF4-FFF2-40B4-BE49-F238E27FC236}">
                <a16:creationId xmlns:a16="http://schemas.microsoft.com/office/drawing/2014/main" id="{60B4A8BE-4415-3B48-DCE0-EB2246A4B9FD}"/>
              </a:ext>
            </a:extLst>
          </p:cNvPr>
          <p:cNvSpPr txBox="1"/>
          <p:nvPr/>
        </p:nvSpPr>
        <p:spPr>
          <a:xfrm>
            <a:off x="543339" y="769441"/>
            <a:ext cx="2835965" cy="461665"/>
          </a:xfrm>
          <a:prstGeom prst="rect">
            <a:avLst/>
          </a:prstGeom>
          <a:noFill/>
        </p:spPr>
        <p:txBody>
          <a:bodyPr wrap="square">
            <a:spAutoFit/>
          </a:bodyPr>
          <a:lstStyle/>
          <a:p>
            <a:r>
              <a:rPr lang="en-IN" sz="2400" dirty="0"/>
              <a:t>➢ Infrared Sensor</a:t>
            </a:r>
          </a:p>
        </p:txBody>
      </p:sp>
      <p:sp>
        <p:nvSpPr>
          <p:cNvPr id="12" name="TextBox 11">
            <a:extLst>
              <a:ext uri="{FF2B5EF4-FFF2-40B4-BE49-F238E27FC236}">
                <a16:creationId xmlns:a16="http://schemas.microsoft.com/office/drawing/2014/main" id="{2AC4E170-6C4C-78C4-3B18-C64B410BD4EA}"/>
              </a:ext>
            </a:extLst>
          </p:cNvPr>
          <p:cNvSpPr txBox="1"/>
          <p:nvPr/>
        </p:nvSpPr>
        <p:spPr>
          <a:xfrm>
            <a:off x="5446643" y="949983"/>
            <a:ext cx="6202018" cy="1938992"/>
          </a:xfrm>
          <a:prstGeom prst="rect">
            <a:avLst/>
          </a:prstGeom>
          <a:noFill/>
        </p:spPr>
        <p:txBody>
          <a:bodyPr wrap="square">
            <a:spAutoFit/>
          </a:bodyPr>
          <a:lstStyle/>
          <a:p>
            <a:pPr algn="just"/>
            <a:r>
              <a:rPr lang="en-US" sz="2000" dirty="0"/>
              <a:t>The main element of this project is the IR Sensor which works as a Human Detector. Whenever the IR sensor detects an interrupt, it counts the person and adds it to the previous value. IR Sensor module has the great adaptive capability of the ambient light. It has an infrared transmitter and a receiver.</a:t>
            </a:r>
            <a:endParaRPr lang="en-IN" sz="2000" dirty="0"/>
          </a:p>
        </p:txBody>
      </p:sp>
      <p:sp>
        <p:nvSpPr>
          <p:cNvPr id="14" name="TextBox 13">
            <a:extLst>
              <a:ext uri="{FF2B5EF4-FFF2-40B4-BE49-F238E27FC236}">
                <a16:creationId xmlns:a16="http://schemas.microsoft.com/office/drawing/2014/main" id="{4456EC9F-531C-0B8F-2313-3FF5DE22B208}"/>
              </a:ext>
            </a:extLst>
          </p:cNvPr>
          <p:cNvSpPr txBox="1"/>
          <p:nvPr/>
        </p:nvSpPr>
        <p:spPr>
          <a:xfrm>
            <a:off x="543338" y="3361754"/>
            <a:ext cx="2835965" cy="400110"/>
          </a:xfrm>
          <a:prstGeom prst="rect">
            <a:avLst/>
          </a:prstGeom>
          <a:noFill/>
        </p:spPr>
        <p:txBody>
          <a:bodyPr wrap="square">
            <a:spAutoFit/>
          </a:bodyPr>
          <a:lstStyle/>
          <a:p>
            <a:r>
              <a:rPr lang="en-IN" sz="2000" dirty="0"/>
              <a:t>➢ Arduino Uno Board</a:t>
            </a:r>
          </a:p>
        </p:txBody>
      </p:sp>
      <p:sp>
        <p:nvSpPr>
          <p:cNvPr id="15" name="AutoShape 2" descr="Arduino Uno Controller. | Download Scientific Diagram">
            <a:extLst>
              <a:ext uri="{FF2B5EF4-FFF2-40B4-BE49-F238E27FC236}">
                <a16:creationId xmlns:a16="http://schemas.microsoft.com/office/drawing/2014/main" id="{D0F33ADD-7C1E-8CDB-A3F4-F0A9E0FA2923}"/>
              </a:ext>
            </a:extLst>
          </p:cNvPr>
          <p:cNvSpPr>
            <a:spLocks noChangeAspect="1" noChangeArrowheads="1"/>
          </p:cNvSpPr>
          <p:nvPr/>
        </p:nvSpPr>
        <p:spPr bwMode="auto">
          <a:xfrm>
            <a:off x="5943599" y="3276599"/>
            <a:ext cx="3399183" cy="3399183"/>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pic>
        <p:nvPicPr>
          <p:cNvPr id="16" name="Picture 15">
            <a:extLst>
              <a:ext uri="{FF2B5EF4-FFF2-40B4-BE49-F238E27FC236}">
                <a16:creationId xmlns:a16="http://schemas.microsoft.com/office/drawing/2014/main" id="{9A8B1124-0C0C-AD53-A059-5C0B937B10C7}"/>
              </a:ext>
            </a:extLst>
          </p:cNvPr>
          <p:cNvPicPr>
            <a:picLocks noChangeAspect="1"/>
          </p:cNvPicPr>
          <p:nvPr/>
        </p:nvPicPr>
        <p:blipFill>
          <a:blip r:embed="rId2"/>
          <a:stretch>
            <a:fillRect/>
          </a:stretch>
        </p:blipFill>
        <p:spPr>
          <a:xfrm>
            <a:off x="945460" y="3878656"/>
            <a:ext cx="4302401" cy="2625898"/>
          </a:xfrm>
          <a:prstGeom prst="rect">
            <a:avLst/>
          </a:prstGeom>
        </p:spPr>
      </p:pic>
      <p:sp>
        <p:nvSpPr>
          <p:cNvPr id="19" name="TextBox 18">
            <a:extLst>
              <a:ext uri="{FF2B5EF4-FFF2-40B4-BE49-F238E27FC236}">
                <a16:creationId xmlns:a16="http://schemas.microsoft.com/office/drawing/2014/main" id="{2C081921-0A91-599D-E6E8-B17A5093C3D6}"/>
              </a:ext>
            </a:extLst>
          </p:cNvPr>
          <p:cNvSpPr txBox="1"/>
          <p:nvPr/>
        </p:nvSpPr>
        <p:spPr>
          <a:xfrm>
            <a:off x="5499652" y="3911458"/>
            <a:ext cx="6096000" cy="2246769"/>
          </a:xfrm>
          <a:prstGeom prst="rect">
            <a:avLst/>
          </a:prstGeom>
          <a:noFill/>
        </p:spPr>
        <p:txBody>
          <a:bodyPr wrap="square">
            <a:spAutoFit/>
          </a:bodyPr>
          <a:lstStyle/>
          <a:p>
            <a:pPr algn="just"/>
            <a:r>
              <a:rPr lang="en-US" sz="2000" b="0" i="0" dirty="0">
                <a:effectLst/>
              </a:rPr>
              <a:t>Arduino Uno is a low-cost, flexible, and easy-to-use programmable open-source microcontroller board that can be integrated into a variety of electronic projects. This board can be interfaced with other Arduino boards, Arduino shields, Raspberry Pi boards and can control relays, LEDs, servos, and motors as an output.</a:t>
            </a:r>
            <a:endParaRPr lang="en-IN" sz="2000" dirty="0"/>
          </a:p>
        </p:txBody>
      </p:sp>
      <p:pic>
        <p:nvPicPr>
          <p:cNvPr id="2" name="Picture 1">
            <a:extLst>
              <a:ext uri="{FF2B5EF4-FFF2-40B4-BE49-F238E27FC236}">
                <a16:creationId xmlns:a16="http://schemas.microsoft.com/office/drawing/2014/main" id="{52757973-DC06-B0A9-7459-6841A6653B8C}"/>
              </a:ext>
            </a:extLst>
          </p:cNvPr>
          <p:cNvPicPr>
            <a:picLocks noChangeAspect="1"/>
          </p:cNvPicPr>
          <p:nvPr/>
        </p:nvPicPr>
        <p:blipFill rotWithShape="1">
          <a:blip r:embed="rId3"/>
          <a:srcRect l="5350" t="11085" r="3767" b="8915"/>
          <a:stretch/>
        </p:blipFill>
        <p:spPr>
          <a:xfrm>
            <a:off x="1097280" y="1231106"/>
            <a:ext cx="3910149" cy="2013856"/>
          </a:xfrm>
          <a:prstGeom prst="rect">
            <a:avLst/>
          </a:prstGeom>
        </p:spPr>
      </p:pic>
    </p:spTree>
    <p:extLst>
      <p:ext uri="{BB962C8B-B14F-4D97-AF65-F5344CB8AC3E}">
        <p14:creationId xmlns:p14="http://schemas.microsoft.com/office/powerpoint/2010/main" val="811508405"/>
      </p:ext>
    </p:extLst>
  </p:cSld>
  <p:clrMapOvr>
    <a:masterClrMapping/>
  </p:clrMapOvr>
  <mc:AlternateContent xmlns:mc="http://schemas.openxmlformats.org/markup-compatibility/2006" xmlns:p14="http://schemas.microsoft.com/office/powerpoint/2010/main">
    <mc:Choice Requires="p14">
      <p:transition spd="slow">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362">
                                          <p:stCondLst>
                                            <p:cond delay="0"/>
                                          </p:stCondLst>
                                        </p:cTn>
                                        <p:tgtEl>
                                          <p:spTgt spid="9"/>
                                        </p:tgtEl>
                                      </p:cBhvr>
                                    </p:animEffect>
                                    <p:anim calcmode="lin" valueType="num">
                                      <p:cBhvr>
                                        <p:cTn id="8" dur="1139" tmFilter="0,0; 0.14,0.36; 0.43,0.73; 0.71,0.91; 1.0,1.0">
                                          <p:stCondLst>
                                            <p:cond delay="0"/>
                                          </p:stCondLst>
                                        </p:cTn>
                                        <p:tgtEl>
                                          <p:spTgt spid="9"/>
                                        </p:tgtEl>
                                        <p:attrNameLst>
                                          <p:attrName>ppt_x</p:attrName>
                                        </p:attrNameLst>
                                      </p:cBhvr>
                                      <p:tavLst>
                                        <p:tav tm="0">
                                          <p:val>
                                            <p:strVal val="#ppt_x-0.25"/>
                                          </p:val>
                                        </p:tav>
                                        <p:tav tm="100000">
                                          <p:val>
                                            <p:strVal val="#ppt_x"/>
                                          </p:val>
                                        </p:tav>
                                      </p:tavLst>
                                    </p:anim>
                                    <p:anim calcmode="lin" valueType="num">
                                      <p:cBhvr>
                                        <p:cTn id="9" dur="415" tmFilter="0.0,0.0; 0.25,0.07; 0.50,0.2; 0.75,0.467; 1.0,1.0">
                                          <p:stCondLst>
                                            <p:cond delay="0"/>
                                          </p:stCondLst>
                                        </p:cTn>
                                        <p:tgtEl>
                                          <p:spTgt spid="9"/>
                                        </p:tgtEl>
                                        <p:attrNameLst>
                                          <p:attrName>ppt_y</p:attrName>
                                        </p:attrNameLst>
                                      </p:cBhvr>
                                      <p:tavLst>
                                        <p:tav tm="0" fmla="#ppt_y-sin(pi*$)/3">
                                          <p:val>
                                            <p:fltVal val="0.5"/>
                                          </p:val>
                                        </p:tav>
                                        <p:tav tm="100000">
                                          <p:val>
                                            <p:fltVal val="1"/>
                                          </p:val>
                                        </p:tav>
                                      </p:tavLst>
                                    </p:anim>
                                    <p:anim calcmode="lin" valueType="num">
                                      <p:cBhvr>
                                        <p:cTn id="10" dur="415" tmFilter="0, 0; 0.125,0.2665; 0.25,0.4; 0.375,0.465; 0.5,0.5;  0.625,0.535; 0.75,0.6; 0.875,0.7335; 1,1">
                                          <p:stCondLst>
                                            <p:cond delay="415"/>
                                          </p:stCondLst>
                                        </p:cTn>
                                        <p:tgtEl>
                                          <p:spTgt spid="9"/>
                                        </p:tgtEl>
                                        <p:attrNameLst>
                                          <p:attrName>ppt_y</p:attrName>
                                        </p:attrNameLst>
                                      </p:cBhvr>
                                      <p:tavLst>
                                        <p:tav tm="0" fmla="#ppt_y-sin(pi*$)/9">
                                          <p:val>
                                            <p:fltVal val="0"/>
                                          </p:val>
                                        </p:tav>
                                        <p:tav tm="100000">
                                          <p:val>
                                            <p:fltVal val="1"/>
                                          </p:val>
                                        </p:tav>
                                      </p:tavLst>
                                    </p:anim>
                                    <p:anim calcmode="lin" valueType="num">
                                      <p:cBhvr>
                                        <p:cTn id="11" dur="207" tmFilter="0, 0; 0.125,0.2665; 0.25,0.4; 0.375,0.465; 0.5,0.5;  0.625,0.535; 0.75,0.6; 0.875,0.7335; 1,1">
                                          <p:stCondLst>
                                            <p:cond delay="828"/>
                                          </p:stCondLst>
                                        </p:cTn>
                                        <p:tgtEl>
                                          <p:spTgt spid="9"/>
                                        </p:tgtEl>
                                        <p:attrNameLst>
                                          <p:attrName>ppt_y</p:attrName>
                                        </p:attrNameLst>
                                      </p:cBhvr>
                                      <p:tavLst>
                                        <p:tav tm="0" fmla="#ppt_y-sin(pi*$)/27">
                                          <p:val>
                                            <p:fltVal val="0"/>
                                          </p:val>
                                        </p:tav>
                                        <p:tav tm="100000">
                                          <p:val>
                                            <p:fltVal val="1"/>
                                          </p:val>
                                        </p:tav>
                                      </p:tavLst>
                                    </p:anim>
                                    <p:anim calcmode="lin" valueType="num">
                                      <p:cBhvr>
                                        <p:cTn id="12" dur="103" tmFilter="0, 0; 0.125,0.2665; 0.25,0.4; 0.375,0.465; 0.5,0.5;  0.625,0.535; 0.75,0.6; 0.875,0.7335; 1,1">
                                          <p:stCondLst>
                                            <p:cond delay="1035"/>
                                          </p:stCondLst>
                                        </p:cTn>
                                        <p:tgtEl>
                                          <p:spTgt spid="9"/>
                                        </p:tgtEl>
                                        <p:attrNameLst>
                                          <p:attrName>ppt_y</p:attrName>
                                        </p:attrNameLst>
                                      </p:cBhvr>
                                      <p:tavLst>
                                        <p:tav tm="0" fmla="#ppt_y-sin(pi*$)/81">
                                          <p:val>
                                            <p:fltVal val="0"/>
                                          </p:val>
                                        </p:tav>
                                        <p:tav tm="100000">
                                          <p:val>
                                            <p:fltVal val="1"/>
                                          </p:val>
                                        </p:tav>
                                      </p:tavLst>
                                    </p:anim>
                                    <p:animScale>
                                      <p:cBhvr>
                                        <p:cTn id="13" dur="16">
                                          <p:stCondLst>
                                            <p:cond delay="406"/>
                                          </p:stCondLst>
                                        </p:cTn>
                                        <p:tgtEl>
                                          <p:spTgt spid="9"/>
                                        </p:tgtEl>
                                      </p:cBhvr>
                                      <p:to x="100000" y="60000"/>
                                    </p:animScale>
                                    <p:animScale>
                                      <p:cBhvr>
                                        <p:cTn id="14" dur="104" decel="50000">
                                          <p:stCondLst>
                                            <p:cond delay="423"/>
                                          </p:stCondLst>
                                        </p:cTn>
                                        <p:tgtEl>
                                          <p:spTgt spid="9"/>
                                        </p:tgtEl>
                                      </p:cBhvr>
                                      <p:to x="100000" y="100000"/>
                                    </p:animScale>
                                    <p:animScale>
                                      <p:cBhvr>
                                        <p:cTn id="15" dur="16">
                                          <p:stCondLst>
                                            <p:cond delay="820"/>
                                          </p:stCondLst>
                                        </p:cTn>
                                        <p:tgtEl>
                                          <p:spTgt spid="9"/>
                                        </p:tgtEl>
                                      </p:cBhvr>
                                      <p:to x="100000" y="80000"/>
                                    </p:animScale>
                                    <p:animScale>
                                      <p:cBhvr>
                                        <p:cTn id="16" dur="104" decel="50000">
                                          <p:stCondLst>
                                            <p:cond delay="836"/>
                                          </p:stCondLst>
                                        </p:cTn>
                                        <p:tgtEl>
                                          <p:spTgt spid="9"/>
                                        </p:tgtEl>
                                      </p:cBhvr>
                                      <p:to x="100000" y="100000"/>
                                    </p:animScale>
                                    <p:animScale>
                                      <p:cBhvr>
                                        <p:cTn id="17" dur="16">
                                          <p:stCondLst>
                                            <p:cond delay="1026"/>
                                          </p:stCondLst>
                                        </p:cTn>
                                        <p:tgtEl>
                                          <p:spTgt spid="9"/>
                                        </p:tgtEl>
                                      </p:cBhvr>
                                      <p:to x="100000" y="90000"/>
                                    </p:animScale>
                                    <p:animScale>
                                      <p:cBhvr>
                                        <p:cTn id="18" dur="104" decel="50000">
                                          <p:stCondLst>
                                            <p:cond delay="1042"/>
                                          </p:stCondLst>
                                        </p:cTn>
                                        <p:tgtEl>
                                          <p:spTgt spid="9"/>
                                        </p:tgtEl>
                                      </p:cBhvr>
                                      <p:to x="100000" y="100000"/>
                                    </p:animScale>
                                    <p:animScale>
                                      <p:cBhvr>
                                        <p:cTn id="19" dur="16">
                                          <p:stCondLst>
                                            <p:cond delay="1130"/>
                                          </p:stCondLst>
                                        </p:cTn>
                                        <p:tgtEl>
                                          <p:spTgt spid="9"/>
                                        </p:tgtEl>
                                      </p:cBhvr>
                                      <p:to x="100000" y="95000"/>
                                    </p:animScale>
                                    <p:animScale>
                                      <p:cBhvr>
                                        <p:cTn id="20" dur="104" decel="50000">
                                          <p:stCondLst>
                                            <p:cond delay="1146"/>
                                          </p:stCondLst>
                                        </p:cTn>
                                        <p:tgtEl>
                                          <p:spTgt spid="9"/>
                                        </p:tgtEl>
                                      </p:cBhvr>
                                      <p:to x="100000" y="100000"/>
                                    </p:animScale>
                                  </p:childTnLst>
                                </p:cTn>
                              </p:par>
                            </p:childTnLst>
                          </p:cTn>
                        </p:par>
                        <p:par>
                          <p:cTn id="21" fill="hold">
                            <p:stCondLst>
                              <p:cond delay="1250"/>
                            </p:stCondLst>
                            <p:childTnLst>
                              <p:par>
                                <p:cTn id="22" presetID="22" presetClass="entr" presetSubtype="4" fill="hold" nodeType="after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wipe(down)">
                                      <p:cBhvr>
                                        <p:cTn id="24" dur="1250"/>
                                        <p:tgtEl>
                                          <p:spTgt spid="2"/>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down)">
                                      <p:cBhvr>
                                        <p:cTn id="27" dur="1250"/>
                                        <p:tgtEl>
                                          <p:spTgt spid="12"/>
                                        </p:tgtEl>
                                      </p:cBhvr>
                                    </p:animEffect>
                                  </p:childTnLst>
                                </p:cTn>
                              </p:par>
                            </p:childTnLst>
                          </p:cTn>
                        </p:par>
                        <p:par>
                          <p:cTn id="28" fill="hold">
                            <p:stCondLst>
                              <p:cond delay="2500"/>
                            </p:stCondLst>
                            <p:childTnLst>
                              <p:par>
                                <p:cTn id="29" presetID="26" presetClass="entr" presetSubtype="0" fill="hold" grpId="0" nodeType="afterEffect">
                                  <p:stCondLst>
                                    <p:cond delay="1500"/>
                                  </p:stCondLst>
                                  <p:childTnLst>
                                    <p:set>
                                      <p:cBhvr>
                                        <p:cTn id="30" dur="1" fill="hold">
                                          <p:stCondLst>
                                            <p:cond delay="0"/>
                                          </p:stCondLst>
                                        </p:cTn>
                                        <p:tgtEl>
                                          <p:spTgt spid="14"/>
                                        </p:tgtEl>
                                        <p:attrNameLst>
                                          <p:attrName>style.visibility</p:attrName>
                                        </p:attrNameLst>
                                      </p:cBhvr>
                                      <p:to>
                                        <p:strVal val="visible"/>
                                      </p:to>
                                    </p:set>
                                    <p:animEffect transition="in" filter="wipe(down)">
                                      <p:cBhvr>
                                        <p:cTn id="31" dur="362">
                                          <p:stCondLst>
                                            <p:cond delay="0"/>
                                          </p:stCondLst>
                                        </p:cTn>
                                        <p:tgtEl>
                                          <p:spTgt spid="14"/>
                                        </p:tgtEl>
                                      </p:cBhvr>
                                    </p:animEffect>
                                    <p:anim calcmode="lin" valueType="num">
                                      <p:cBhvr>
                                        <p:cTn id="32" dur="1139"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33" dur="415"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34" dur="415" tmFilter="0, 0; 0.125,0.2665; 0.25,0.4; 0.375,0.465; 0.5,0.5;  0.625,0.535; 0.75,0.6; 0.875,0.7335; 1,1">
                                          <p:stCondLst>
                                            <p:cond delay="415"/>
                                          </p:stCondLst>
                                        </p:cTn>
                                        <p:tgtEl>
                                          <p:spTgt spid="14"/>
                                        </p:tgtEl>
                                        <p:attrNameLst>
                                          <p:attrName>ppt_y</p:attrName>
                                        </p:attrNameLst>
                                      </p:cBhvr>
                                      <p:tavLst>
                                        <p:tav tm="0" fmla="#ppt_y-sin(pi*$)/9">
                                          <p:val>
                                            <p:fltVal val="0"/>
                                          </p:val>
                                        </p:tav>
                                        <p:tav tm="100000">
                                          <p:val>
                                            <p:fltVal val="1"/>
                                          </p:val>
                                        </p:tav>
                                      </p:tavLst>
                                    </p:anim>
                                    <p:anim calcmode="lin" valueType="num">
                                      <p:cBhvr>
                                        <p:cTn id="35" dur="207" tmFilter="0, 0; 0.125,0.2665; 0.25,0.4; 0.375,0.465; 0.5,0.5;  0.625,0.535; 0.75,0.6; 0.875,0.7335; 1,1">
                                          <p:stCondLst>
                                            <p:cond delay="828"/>
                                          </p:stCondLst>
                                        </p:cTn>
                                        <p:tgtEl>
                                          <p:spTgt spid="14"/>
                                        </p:tgtEl>
                                        <p:attrNameLst>
                                          <p:attrName>ppt_y</p:attrName>
                                        </p:attrNameLst>
                                      </p:cBhvr>
                                      <p:tavLst>
                                        <p:tav tm="0" fmla="#ppt_y-sin(pi*$)/27">
                                          <p:val>
                                            <p:fltVal val="0"/>
                                          </p:val>
                                        </p:tav>
                                        <p:tav tm="100000">
                                          <p:val>
                                            <p:fltVal val="1"/>
                                          </p:val>
                                        </p:tav>
                                      </p:tavLst>
                                    </p:anim>
                                    <p:anim calcmode="lin" valueType="num">
                                      <p:cBhvr>
                                        <p:cTn id="36" dur="103" tmFilter="0, 0; 0.125,0.2665; 0.25,0.4; 0.375,0.465; 0.5,0.5;  0.625,0.535; 0.75,0.6; 0.875,0.7335; 1,1">
                                          <p:stCondLst>
                                            <p:cond delay="1035"/>
                                          </p:stCondLst>
                                        </p:cTn>
                                        <p:tgtEl>
                                          <p:spTgt spid="14"/>
                                        </p:tgtEl>
                                        <p:attrNameLst>
                                          <p:attrName>ppt_y</p:attrName>
                                        </p:attrNameLst>
                                      </p:cBhvr>
                                      <p:tavLst>
                                        <p:tav tm="0" fmla="#ppt_y-sin(pi*$)/81">
                                          <p:val>
                                            <p:fltVal val="0"/>
                                          </p:val>
                                        </p:tav>
                                        <p:tav tm="100000">
                                          <p:val>
                                            <p:fltVal val="1"/>
                                          </p:val>
                                        </p:tav>
                                      </p:tavLst>
                                    </p:anim>
                                    <p:animScale>
                                      <p:cBhvr>
                                        <p:cTn id="37" dur="16">
                                          <p:stCondLst>
                                            <p:cond delay="406"/>
                                          </p:stCondLst>
                                        </p:cTn>
                                        <p:tgtEl>
                                          <p:spTgt spid="14"/>
                                        </p:tgtEl>
                                      </p:cBhvr>
                                      <p:to x="100000" y="60000"/>
                                    </p:animScale>
                                    <p:animScale>
                                      <p:cBhvr>
                                        <p:cTn id="38" dur="104" decel="50000">
                                          <p:stCondLst>
                                            <p:cond delay="423"/>
                                          </p:stCondLst>
                                        </p:cTn>
                                        <p:tgtEl>
                                          <p:spTgt spid="14"/>
                                        </p:tgtEl>
                                      </p:cBhvr>
                                      <p:to x="100000" y="100000"/>
                                    </p:animScale>
                                    <p:animScale>
                                      <p:cBhvr>
                                        <p:cTn id="39" dur="16">
                                          <p:stCondLst>
                                            <p:cond delay="820"/>
                                          </p:stCondLst>
                                        </p:cTn>
                                        <p:tgtEl>
                                          <p:spTgt spid="14"/>
                                        </p:tgtEl>
                                      </p:cBhvr>
                                      <p:to x="100000" y="80000"/>
                                    </p:animScale>
                                    <p:animScale>
                                      <p:cBhvr>
                                        <p:cTn id="40" dur="104" decel="50000">
                                          <p:stCondLst>
                                            <p:cond delay="836"/>
                                          </p:stCondLst>
                                        </p:cTn>
                                        <p:tgtEl>
                                          <p:spTgt spid="14"/>
                                        </p:tgtEl>
                                      </p:cBhvr>
                                      <p:to x="100000" y="100000"/>
                                    </p:animScale>
                                    <p:animScale>
                                      <p:cBhvr>
                                        <p:cTn id="41" dur="16">
                                          <p:stCondLst>
                                            <p:cond delay="1026"/>
                                          </p:stCondLst>
                                        </p:cTn>
                                        <p:tgtEl>
                                          <p:spTgt spid="14"/>
                                        </p:tgtEl>
                                      </p:cBhvr>
                                      <p:to x="100000" y="90000"/>
                                    </p:animScale>
                                    <p:animScale>
                                      <p:cBhvr>
                                        <p:cTn id="42" dur="104" decel="50000">
                                          <p:stCondLst>
                                            <p:cond delay="1042"/>
                                          </p:stCondLst>
                                        </p:cTn>
                                        <p:tgtEl>
                                          <p:spTgt spid="14"/>
                                        </p:tgtEl>
                                      </p:cBhvr>
                                      <p:to x="100000" y="100000"/>
                                    </p:animScale>
                                    <p:animScale>
                                      <p:cBhvr>
                                        <p:cTn id="43" dur="16">
                                          <p:stCondLst>
                                            <p:cond delay="1130"/>
                                          </p:stCondLst>
                                        </p:cTn>
                                        <p:tgtEl>
                                          <p:spTgt spid="14"/>
                                        </p:tgtEl>
                                      </p:cBhvr>
                                      <p:to x="100000" y="95000"/>
                                    </p:animScale>
                                    <p:animScale>
                                      <p:cBhvr>
                                        <p:cTn id="44" dur="104" decel="50000">
                                          <p:stCondLst>
                                            <p:cond delay="1146"/>
                                          </p:stCondLst>
                                        </p:cTn>
                                        <p:tgtEl>
                                          <p:spTgt spid="14"/>
                                        </p:tgtEl>
                                      </p:cBhvr>
                                      <p:to x="100000" y="100000"/>
                                    </p:animScale>
                                  </p:childTnLst>
                                </p:cTn>
                              </p:par>
                            </p:childTnLst>
                          </p:cTn>
                        </p:par>
                        <p:par>
                          <p:cTn id="45" fill="hold">
                            <p:stCondLst>
                              <p:cond delay="5250"/>
                            </p:stCondLst>
                            <p:childTnLst>
                              <p:par>
                                <p:cTn id="46" presetID="22" presetClass="entr" presetSubtype="4" fill="hold" nodeType="after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wipe(down)">
                                      <p:cBhvr>
                                        <p:cTn id="48" dur="1250"/>
                                        <p:tgtEl>
                                          <p:spTgt spid="16"/>
                                        </p:tgtEl>
                                      </p:cBhvr>
                                    </p:animEffect>
                                  </p:childTnLst>
                                </p:cTn>
                              </p:par>
                              <p:par>
                                <p:cTn id="49" presetID="22" presetClass="entr" presetSubtype="4"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wipe(down)">
                                      <p:cBhvr>
                                        <p:cTn id="51" dur="12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P spid="14" grpId="0"/>
      <p:bldP spid="1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50215D3-C52B-92ED-FF8E-AA0D0D5E38CB}"/>
              </a:ext>
            </a:extLst>
          </p:cNvPr>
          <p:cNvSpPr txBox="1"/>
          <p:nvPr/>
        </p:nvSpPr>
        <p:spPr>
          <a:xfrm>
            <a:off x="715618" y="292413"/>
            <a:ext cx="2279374" cy="400110"/>
          </a:xfrm>
          <a:prstGeom prst="rect">
            <a:avLst/>
          </a:prstGeom>
          <a:noFill/>
        </p:spPr>
        <p:txBody>
          <a:bodyPr wrap="square">
            <a:spAutoFit/>
          </a:bodyPr>
          <a:lstStyle/>
          <a:p>
            <a:r>
              <a:rPr lang="en-IN" sz="2000" dirty="0"/>
              <a:t>➢ OLED Display </a:t>
            </a:r>
          </a:p>
        </p:txBody>
      </p:sp>
      <p:pic>
        <p:nvPicPr>
          <p:cNvPr id="6" name="Picture 5">
            <a:extLst>
              <a:ext uri="{FF2B5EF4-FFF2-40B4-BE49-F238E27FC236}">
                <a16:creationId xmlns:a16="http://schemas.microsoft.com/office/drawing/2014/main" id="{DB231FE6-BE54-868A-4E86-E58A0BC88C67}"/>
              </a:ext>
            </a:extLst>
          </p:cNvPr>
          <p:cNvPicPr>
            <a:picLocks noChangeAspect="1"/>
          </p:cNvPicPr>
          <p:nvPr/>
        </p:nvPicPr>
        <p:blipFill>
          <a:blip r:embed="rId2"/>
          <a:stretch>
            <a:fillRect/>
          </a:stretch>
        </p:blipFill>
        <p:spPr>
          <a:xfrm>
            <a:off x="715618" y="692523"/>
            <a:ext cx="4320208" cy="2487999"/>
          </a:xfrm>
          <a:prstGeom prst="rect">
            <a:avLst/>
          </a:prstGeom>
        </p:spPr>
      </p:pic>
      <p:sp>
        <p:nvSpPr>
          <p:cNvPr id="8" name="TextBox 7">
            <a:extLst>
              <a:ext uri="{FF2B5EF4-FFF2-40B4-BE49-F238E27FC236}">
                <a16:creationId xmlns:a16="http://schemas.microsoft.com/office/drawing/2014/main" id="{F5EB0D76-AB51-FAC8-6E8C-40D2F2367352}"/>
              </a:ext>
            </a:extLst>
          </p:cNvPr>
          <p:cNvSpPr txBox="1"/>
          <p:nvPr/>
        </p:nvSpPr>
        <p:spPr>
          <a:xfrm>
            <a:off x="5380382" y="692523"/>
            <a:ext cx="6096000" cy="2246769"/>
          </a:xfrm>
          <a:prstGeom prst="rect">
            <a:avLst/>
          </a:prstGeom>
          <a:noFill/>
        </p:spPr>
        <p:txBody>
          <a:bodyPr wrap="square">
            <a:spAutoFit/>
          </a:bodyPr>
          <a:lstStyle/>
          <a:p>
            <a:pPr algn="just"/>
            <a:r>
              <a:rPr lang="en-IN" sz="2000" dirty="0"/>
              <a:t>Properties: </a:t>
            </a:r>
          </a:p>
          <a:p>
            <a:pPr marL="457200" indent="-457200" algn="just">
              <a:buAutoNum type="arabicPeriod"/>
            </a:pPr>
            <a:r>
              <a:rPr lang="en-IN" sz="2000" dirty="0"/>
              <a:t>Driver IC: SSD1306 </a:t>
            </a:r>
          </a:p>
          <a:p>
            <a:pPr marL="457200" indent="-457200" algn="just">
              <a:buAutoNum type="arabicPeriod"/>
            </a:pPr>
            <a:r>
              <a:rPr lang="en-IN" sz="2000" dirty="0"/>
              <a:t>Resolution: 128 x 64 </a:t>
            </a:r>
          </a:p>
          <a:p>
            <a:pPr marL="457200" indent="-457200" algn="just">
              <a:buAutoNum type="arabicPeriod"/>
            </a:pPr>
            <a:r>
              <a:rPr lang="en-IN" sz="2000" dirty="0"/>
              <a:t>Visual Angle: &gt;160° </a:t>
            </a:r>
          </a:p>
          <a:p>
            <a:pPr marL="457200" indent="-457200" algn="just">
              <a:buAutoNum type="arabicPeriod"/>
            </a:pPr>
            <a:r>
              <a:rPr lang="en-IN" sz="2000" dirty="0"/>
              <a:t>Input Voltage: 3.3V ~ 6V </a:t>
            </a:r>
          </a:p>
          <a:p>
            <a:pPr marL="457200" indent="-457200" algn="just">
              <a:buAutoNum type="arabicPeriod"/>
            </a:pPr>
            <a:r>
              <a:rPr lang="en-IN" sz="2000" dirty="0"/>
              <a:t>Only Need 2 I/O Port Control </a:t>
            </a:r>
          </a:p>
          <a:p>
            <a:pPr marL="457200" indent="-457200" algn="just">
              <a:buAutoNum type="arabicPeriod"/>
            </a:pPr>
            <a:r>
              <a:rPr lang="en-IN" sz="2000" dirty="0"/>
              <a:t>Pixel Colour: Blue</a:t>
            </a:r>
          </a:p>
        </p:txBody>
      </p:sp>
      <p:sp>
        <p:nvSpPr>
          <p:cNvPr id="10" name="TextBox 9">
            <a:extLst>
              <a:ext uri="{FF2B5EF4-FFF2-40B4-BE49-F238E27FC236}">
                <a16:creationId xmlns:a16="http://schemas.microsoft.com/office/drawing/2014/main" id="{4971485B-2F7D-2DE0-38C0-44A6A70C28E3}"/>
              </a:ext>
            </a:extLst>
          </p:cNvPr>
          <p:cNvSpPr txBox="1"/>
          <p:nvPr/>
        </p:nvSpPr>
        <p:spPr>
          <a:xfrm>
            <a:off x="715618" y="3180522"/>
            <a:ext cx="2332382" cy="400110"/>
          </a:xfrm>
          <a:prstGeom prst="rect">
            <a:avLst/>
          </a:prstGeom>
          <a:noFill/>
        </p:spPr>
        <p:txBody>
          <a:bodyPr wrap="square">
            <a:spAutoFit/>
          </a:bodyPr>
          <a:lstStyle/>
          <a:p>
            <a:r>
              <a:rPr lang="en-IN" sz="2000" dirty="0"/>
              <a:t>➢ Relay Module</a:t>
            </a:r>
          </a:p>
        </p:txBody>
      </p:sp>
      <p:sp>
        <p:nvSpPr>
          <p:cNvPr id="12" name="TextBox 11">
            <a:extLst>
              <a:ext uri="{FF2B5EF4-FFF2-40B4-BE49-F238E27FC236}">
                <a16:creationId xmlns:a16="http://schemas.microsoft.com/office/drawing/2014/main" id="{A18AF51F-C1E3-BD31-871A-EBAD387A23C7}"/>
              </a:ext>
            </a:extLst>
          </p:cNvPr>
          <p:cNvSpPr txBox="1"/>
          <p:nvPr/>
        </p:nvSpPr>
        <p:spPr>
          <a:xfrm>
            <a:off x="5380382" y="3830551"/>
            <a:ext cx="6096000" cy="2246769"/>
          </a:xfrm>
          <a:prstGeom prst="rect">
            <a:avLst/>
          </a:prstGeom>
          <a:noFill/>
        </p:spPr>
        <p:txBody>
          <a:bodyPr wrap="square">
            <a:spAutoFit/>
          </a:bodyPr>
          <a:lstStyle/>
          <a:p>
            <a:pPr algn="just"/>
            <a:r>
              <a:rPr lang="en-US" sz="2000" dirty="0"/>
              <a:t>Relay is an electromechanical device that uses an electric current to open or close the contacts of a switch. The single-channel relay module is much more than just a plain relay, it comprises of components that make switching and connection easier and act as indicators to show if the module is powered and if the relay is active or not.</a:t>
            </a:r>
            <a:endParaRPr lang="en-IN" sz="2000" dirty="0"/>
          </a:p>
        </p:txBody>
      </p:sp>
      <p:pic>
        <p:nvPicPr>
          <p:cNvPr id="13" name="Picture 12">
            <a:extLst>
              <a:ext uri="{FF2B5EF4-FFF2-40B4-BE49-F238E27FC236}">
                <a16:creationId xmlns:a16="http://schemas.microsoft.com/office/drawing/2014/main" id="{947BE032-CD6A-2314-93AD-95F93D937A88}"/>
              </a:ext>
            </a:extLst>
          </p:cNvPr>
          <p:cNvPicPr>
            <a:picLocks noChangeAspect="1"/>
          </p:cNvPicPr>
          <p:nvPr/>
        </p:nvPicPr>
        <p:blipFill>
          <a:blip r:embed="rId3"/>
          <a:stretch>
            <a:fillRect/>
          </a:stretch>
        </p:blipFill>
        <p:spPr>
          <a:xfrm>
            <a:off x="1020417" y="3736104"/>
            <a:ext cx="3710609" cy="2435662"/>
          </a:xfrm>
          <a:prstGeom prst="rect">
            <a:avLst/>
          </a:prstGeom>
        </p:spPr>
      </p:pic>
    </p:spTree>
    <p:extLst>
      <p:ext uri="{BB962C8B-B14F-4D97-AF65-F5344CB8AC3E}">
        <p14:creationId xmlns:p14="http://schemas.microsoft.com/office/powerpoint/2010/main" val="522019472"/>
      </p:ext>
    </p:extLst>
  </p:cSld>
  <p:clrMapOvr>
    <a:masterClrMapping/>
  </p:clrMapOvr>
  <mc:AlternateContent xmlns:mc="http://schemas.openxmlformats.org/markup-compatibility/2006" xmlns:p14="http://schemas.microsoft.com/office/powerpoint/2010/main">
    <mc:Choice Requires="p14">
      <p:transition spd="slow">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362">
                                          <p:stCondLst>
                                            <p:cond delay="0"/>
                                          </p:stCondLst>
                                        </p:cTn>
                                        <p:tgtEl>
                                          <p:spTgt spid="5"/>
                                        </p:tgtEl>
                                      </p:cBhvr>
                                    </p:animEffect>
                                    <p:anim calcmode="lin" valueType="num">
                                      <p:cBhvr>
                                        <p:cTn id="8" dur="1139"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9" dur="415"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10" dur="415" tmFilter="0, 0; 0.125,0.2665; 0.25,0.4; 0.375,0.465; 0.5,0.5;  0.625,0.535; 0.75,0.6; 0.875,0.7335; 1,1">
                                          <p:stCondLst>
                                            <p:cond delay="415"/>
                                          </p:stCondLst>
                                        </p:cTn>
                                        <p:tgtEl>
                                          <p:spTgt spid="5"/>
                                        </p:tgtEl>
                                        <p:attrNameLst>
                                          <p:attrName>ppt_y</p:attrName>
                                        </p:attrNameLst>
                                      </p:cBhvr>
                                      <p:tavLst>
                                        <p:tav tm="0" fmla="#ppt_y-sin(pi*$)/9">
                                          <p:val>
                                            <p:fltVal val="0"/>
                                          </p:val>
                                        </p:tav>
                                        <p:tav tm="100000">
                                          <p:val>
                                            <p:fltVal val="1"/>
                                          </p:val>
                                        </p:tav>
                                      </p:tavLst>
                                    </p:anim>
                                    <p:anim calcmode="lin" valueType="num">
                                      <p:cBhvr>
                                        <p:cTn id="11" dur="207" tmFilter="0, 0; 0.125,0.2665; 0.25,0.4; 0.375,0.465; 0.5,0.5;  0.625,0.535; 0.75,0.6; 0.875,0.7335; 1,1">
                                          <p:stCondLst>
                                            <p:cond delay="828"/>
                                          </p:stCondLst>
                                        </p:cTn>
                                        <p:tgtEl>
                                          <p:spTgt spid="5"/>
                                        </p:tgtEl>
                                        <p:attrNameLst>
                                          <p:attrName>ppt_y</p:attrName>
                                        </p:attrNameLst>
                                      </p:cBhvr>
                                      <p:tavLst>
                                        <p:tav tm="0" fmla="#ppt_y-sin(pi*$)/27">
                                          <p:val>
                                            <p:fltVal val="0"/>
                                          </p:val>
                                        </p:tav>
                                        <p:tav tm="100000">
                                          <p:val>
                                            <p:fltVal val="1"/>
                                          </p:val>
                                        </p:tav>
                                      </p:tavLst>
                                    </p:anim>
                                    <p:anim calcmode="lin" valueType="num">
                                      <p:cBhvr>
                                        <p:cTn id="12" dur="103" tmFilter="0, 0; 0.125,0.2665; 0.25,0.4; 0.375,0.465; 0.5,0.5;  0.625,0.535; 0.75,0.6; 0.875,0.7335; 1,1">
                                          <p:stCondLst>
                                            <p:cond delay="1035"/>
                                          </p:stCondLst>
                                        </p:cTn>
                                        <p:tgtEl>
                                          <p:spTgt spid="5"/>
                                        </p:tgtEl>
                                        <p:attrNameLst>
                                          <p:attrName>ppt_y</p:attrName>
                                        </p:attrNameLst>
                                      </p:cBhvr>
                                      <p:tavLst>
                                        <p:tav tm="0" fmla="#ppt_y-sin(pi*$)/81">
                                          <p:val>
                                            <p:fltVal val="0"/>
                                          </p:val>
                                        </p:tav>
                                        <p:tav tm="100000">
                                          <p:val>
                                            <p:fltVal val="1"/>
                                          </p:val>
                                        </p:tav>
                                      </p:tavLst>
                                    </p:anim>
                                    <p:animScale>
                                      <p:cBhvr>
                                        <p:cTn id="13" dur="16">
                                          <p:stCondLst>
                                            <p:cond delay="406"/>
                                          </p:stCondLst>
                                        </p:cTn>
                                        <p:tgtEl>
                                          <p:spTgt spid="5"/>
                                        </p:tgtEl>
                                      </p:cBhvr>
                                      <p:to x="100000" y="60000"/>
                                    </p:animScale>
                                    <p:animScale>
                                      <p:cBhvr>
                                        <p:cTn id="14" dur="104" decel="50000">
                                          <p:stCondLst>
                                            <p:cond delay="423"/>
                                          </p:stCondLst>
                                        </p:cTn>
                                        <p:tgtEl>
                                          <p:spTgt spid="5"/>
                                        </p:tgtEl>
                                      </p:cBhvr>
                                      <p:to x="100000" y="100000"/>
                                    </p:animScale>
                                    <p:animScale>
                                      <p:cBhvr>
                                        <p:cTn id="15" dur="16">
                                          <p:stCondLst>
                                            <p:cond delay="820"/>
                                          </p:stCondLst>
                                        </p:cTn>
                                        <p:tgtEl>
                                          <p:spTgt spid="5"/>
                                        </p:tgtEl>
                                      </p:cBhvr>
                                      <p:to x="100000" y="80000"/>
                                    </p:animScale>
                                    <p:animScale>
                                      <p:cBhvr>
                                        <p:cTn id="16" dur="104" decel="50000">
                                          <p:stCondLst>
                                            <p:cond delay="836"/>
                                          </p:stCondLst>
                                        </p:cTn>
                                        <p:tgtEl>
                                          <p:spTgt spid="5"/>
                                        </p:tgtEl>
                                      </p:cBhvr>
                                      <p:to x="100000" y="100000"/>
                                    </p:animScale>
                                    <p:animScale>
                                      <p:cBhvr>
                                        <p:cTn id="17" dur="16">
                                          <p:stCondLst>
                                            <p:cond delay="1026"/>
                                          </p:stCondLst>
                                        </p:cTn>
                                        <p:tgtEl>
                                          <p:spTgt spid="5"/>
                                        </p:tgtEl>
                                      </p:cBhvr>
                                      <p:to x="100000" y="90000"/>
                                    </p:animScale>
                                    <p:animScale>
                                      <p:cBhvr>
                                        <p:cTn id="18" dur="104" decel="50000">
                                          <p:stCondLst>
                                            <p:cond delay="1042"/>
                                          </p:stCondLst>
                                        </p:cTn>
                                        <p:tgtEl>
                                          <p:spTgt spid="5"/>
                                        </p:tgtEl>
                                      </p:cBhvr>
                                      <p:to x="100000" y="100000"/>
                                    </p:animScale>
                                    <p:animScale>
                                      <p:cBhvr>
                                        <p:cTn id="19" dur="16">
                                          <p:stCondLst>
                                            <p:cond delay="1130"/>
                                          </p:stCondLst>
                                        </p:cTn>
                                        <p:tgtEl>
                                          <p:spTgt spid="5"/>
                                        </p:tgtEl>
                                      </p:cBhvr>
                                      <p:to x="100000" y="95000"/>
                                    </p:animScale>
                                    <p:animScale>
                                      <p:cBhvr>
                                        <p:cTn id="20" dur="104" decel="50000">
                                          <p:stCondLst>
                                            <p:cond delay="1146"/>
                                          </p:stCondLst>
                                        </p:cTn>
                                        <p:tgtEl>
                                          <p:spTgt spid="5"/>
                                        </p:tgtEl>
                                      </p:cBhvr>
                                      <p:to x="100000" y="100000"/>
                                    </p:animScale>
                                  </p:childTnLst>
                                </p:cTn>
                              </p:par>
                            </p:childTnLst>
                          </p:cTn>
                        </p:par>
                        <p:par>
                          <p:cTn id="21" fill="hold">
                            <p:stCondLst>
                              <p:cond delay="1250"/>
                            </p:stCondLst>
                            <p:childTnLst>
                              <p:par>
                                <p:cTn id="22" presetID="22" presetClass="entr" presetSubtype="4" fill="hold"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down)">
                                      <p:cBhvr>
                                        <p:cTn id="24" dur="1250"/>
                                        <p:tgtEl>
                                          <p:spTgt spid="6"/>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down)">
                                      <p:cBhvr>
                                        <p:cTn id="27" dur="1250"/>
                                        <p:tgtEl>
                                          <p:spTgt spid="8"/>
                                        </p:tgtEl>
                                      </p:cBhvr>
                                    </p:animEffect>
                                  </p:childTnLst>
                                </p:cTn>
                              </p:par>
                            </p:childTnLst>
                          </p:cTn>
                        </p:par>
                        <p:par>
                          <p:cTn id="28" fill="hold">
                            <p:stCondLst>
                              <p:cond delay="2500"/>
                            </p:stCondLst>
                            <p:childTnLst>
                              <p:par>
                                <p:cTn id="29" presetID="26" presetClass="entr" presetSubtype="0" fill="hold" grpId="0" nodeType="afterEffect">
                                  <p:stCondLst>
                                    <p:cond delay="1250"/>
                                  </p:stCondLst>
                                  <p:childTnLst>
                                    <p:set>
                                      <p:cBhvr>
                                        <p:cTn id="30" dur="1" fill="hold">
                                          <p:stCondLst>
                                            <p:cond delay="0"/>
                                          </p:stCondLst>
                                        </p:cTn>
                                        <p:tgtEl>
                                          <p:spTgt spid="10"/>
                                        </p:tgtEl>
                                        <p:attrNameLst>
                                          <p:attrName>style.visibility</p:attrName>
                                        </p:attrNameLst>
                                      </p:cBhvr>
                                      <p:to>
                                        <p:strVal val="visible"/>
                                      </p:to>
                                    </p:set>
                                    <p:animEffect transition="in" filter="wipe(down)">
                                      <p:cBhvr>
                                        <p:cTn id="31" dur="362">
                                          <p:stCondLst>
                                            <p:cond delay="0"/>
                                          </p:stCondLst>
                                        </p:cTn>
                                        <p:tgtEl>
                                          <p:spTgt spid="10"/>
                                        </p:tgtEl>
                                      </p:cBhvr>
                                    </p:animEffect>
                                    <p:anim calcmode="lin" valueType="num">
                                      <p:cBhvr>
                                        <p:cTn id="32" dur="1139"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33" dur="415"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34" dur="415" tmFilter="0, 0; 0.125,0.2665; 0.25,0.4; 0.375,0.465; 0.5,0.5;  0.625,0.535; 0.75,0.6; 0.875,0.7335; 1,1">
                                          <p:stCondLst>
                                            <p:cond delay="415"/>
                                          </p:stCondLst>
                                        </p:cTn>
                                        <p:tgtEl>
                                          <p:spTgt spid="10"/>
                                        </p:tgtEl>
                                        <p:attrNameLst>
                                          <p:attrName>ppt_y</p:attrName>
                                        </p:attrNameLst>
                                      </p:cBhvr>
                                      <p:tavLst>
                                        <p:tav tm="0" fmla="#ppt_y-sin(pi*$)/9">
                                          <p:val>
                                            <p:fltVal val="0"/>
                                          </p:val>
                                        </p:tav>
                                        <p:tav tm="100000">
                                          <p:val>
                                            <p:fltVal val="1"/>
                                          </p:val>
                                        </p:tav>
                                      </p:tavLst>
                                    </p:anim>
                                    <p:anim calcmode="lin" valueType="num">
                                      <p:cBhvr>
                                        <p:cTn id="35" dur="207" tmFilter="0, 0; 0.125,0.2665; 0.25,0.4; 0.375,0.465; 0.5,0.5;  0.625,0.535; 0.75,0.6; 0.875,0.7335; 1,1">
                                          <p:stCondLst>
                                            <p:cond delay="828"/>
                                          </p:stCondLst>
                                        </p:cTn>
                                        <p:tgtEl>
                                          <p:spTgt spid="10"/>
                                        </p:tgtEl>
                                        <p:attrNameLst>
                                          <p:attrName>ppt_y</p:attrName>
                                        </p:attrNameLst>
                                      </p:cBhvr>
                                      <p:tavLst>
                                        <p:tav tm="0" fmla="#ppt_y-sin(pi*$)/27">
                                          <p:val>
                                            <p:fltVal val="0"/>
                                          </p:val>
                                        </p:tav>
                                        <p:tav tm="100000">
                                          <p:val>
                                            <p:fltVal val="1"/>
                                          </p:val>
                                        </p:tav>
                                      </p:tavLst>
                                    </p:anim>
                                    <p:anim calcmode="lin" valueType="num">
                                      <p:cBhvr>
                                        <p:cTn id="36" dur="103" tmFilter="0, 0; 0.125,0.2665; 0.25,0.4; 0.375,0.465; 0.5,0.5;  0.625,0.535; 0.75,0.6; 0.875,0.7335; 1,1">
                                          <p:stCondLst>
                                            <p:cond delay="1035"/>
                                          </p:stCondLst>
                                        </p:cTn>
                                        <p:tgtEl>
                                          <p:spTgt spid="10"/>
                                        </p:tgtEl>
                                        <p:attrNameLst>
                                          <p:attrName>ppt_y</p:attrName>
                                        </p:attrNameLst>
                                      </p:cBhvr>
                                      <p:tavLst>
                                        <p:tav tm="0" fmla="#ppt_y-sin(pi*$)/81">
                                          <p:val>
                                            <p:fltVal val="0"/>
                                          </p:val>
                                        </p:tav>
                                        <p:tav tm="100000">
                                          <p:val>
                                            <p:fltVal val="1"/>
                                          </p:val>
                                        </p:tav>
                                      </p:tavLst>
                                    </p:anim>
                                    <p:animScale>
                                      <p:cBhvr>
                                        <p:cTn id="37" dur="16">
                                          <p:stCondLst>
                                            <p:cond delay="406"/>
                                          </p:stCondLst>
                                        </p:cTn>
                                        <p:tgtEl>
                                          <p:spTgt spid="10"/>
                                        </p:tgtEl>
                                      </p:cBhvr>
                                      <p:to x="100000" y="60000"/>
                                    </p:animScale>
                                    <p:animScale>
                                      <p:cBhvr>
                                        <p:cTn id="38" dur="104" decel="50000">
                                          <p:stCondLst>
                                            <p:cond delay="423"/>
                                          </p:stCondLst>
                                        </p:cTn>
                                        <p:tgtEl>
                                          <p:spTgt spid="10"/>
                                        </p:tgtEl>
                                      </p:cBhvr>
                                      <p:to x="100000" y="100000"/>
                                    </p:animScale>
                                    <p:animScale>
                                      <p:cBhvr>
                                        <p:cTn id="39" dur="16">
                                          <p:stCondLst>
                                            <p:cond delay="820"/>
                                          </p:stCondLst>
                                        </p:cTn>
                                        <p:tgtEl>
                                          <p:spTgt spid="10"/>
                                        </p:tgtEl>
                                      </p:cBhvr>
                                      <p:to x="100000" y="80000"/>
                                    </p:animScale>
                                    <p:animScale>
                                      <p:cBhvr>
                                        <p:cTn id="40" dur="104" decel="50000">
                                          <p:stCondLst>
                                            <p:cond delay="836"/>
                                          </p:stCondLst>
                                        </p:cTn>
                                        <p:tgtEl>
                                          <p:spTgt spid="10"/>
                                        </p:tgtEl>
                                      </p:cBhvr>
                                      <p:to x="100000" y="100000"/>
                                    </p:animScale>
                                    <p:animScale>
                                      <p:cBhvr>
                                        <p:cTn id="41" dur="16">
                                          <p:stCondLst>
                                            <p:cond delay="1026"/>
                                          </p:stCondLst>
                                        </p:cTn>
                                        <p:tgtEl>
                                          <p:spTgt spid="10"/>
                                        </p:tgtEl>
                                      </p:cBhvr>
                                      <p:to x="100000" y="90000"/>
                                    </p:animScale>
                                    <p:animScale>
                                      <p:cBhvr>
                                        <p:cTn id="42" dur="104" decel="50000">
                                          <p:stCondLst>
                                            <p:cond delay="1042"/>
                                          </p:stCondLst>
                                        </p:cTn>
                                        <p:tgtEl>
                                          <p:spTgt spid="10"/>
                                        </p:tgtEl>
                                      </p:cBhvr>
                                      <p:to x="100000" y="100000"/>
                                    </p:animScale>
                                    <p:animScale>
                                      <p:cBhvr>
                                        <p:cTn id="43" dur="16">
                                          <p:stCondLst>
                                            <p:cond delay="1130"/>
                                          </p:stCondLst>
                                        </p:cTn>
                                        <p:tgtEl>
                                          <p:spTgt spid="10"/>
                                        </p:tgtEl>
                                      </p:cBhvr>
                                      <p:to x="100000" y="95000"/>
                                    </p:animScale>
                                    <p:animScale>
                                      <p:cBhvr>
                                        <p:cTn id="44" dur="104" decel="50000">
                                          <p:stCondLst>
                                            <p:cond delay="1146"/>
                                          </p:stCondLst>
                                        </p:cTn>
                                        <p:tgtEl>
                                          <p:spTgt spid="10"/>
                                        </p:tgtEl>
                                      </p:cBhvr>
                                      <p:to x="100000" y="100000"/>
                                    </p:animScale>
                                  </p:childTnLst>
                                </p:cTn>
                              </p:par>
                            </p:childTnLst>
                          </p:cTn>
                        </p:par>
                        <p:par>
                          <p:cTn id="45" fill="hold">
                            <p:stCondLst>
                              <p:cond delay="5000"/>
                            </p:stCondLst>
                            <p:childTnLst>
                              <p:par>
                                <p:cTn id="46" presetID="22" presetClass="entr" presetSubtype="4" fill="hold" nodeType="after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wipe(down)">
                                      <p:cBhvr>
                                        <p:cTn id="48" dur="1250"/>
                                        <p:tgtEl>
                                          <p:spTgt spid="13"/>
                                        </p:tgtEl>
                                      </p:cBhvr>
                                    </p:animEffect>
                                  </p:childTnLst>
                                </p:cTn>
                              </p:par>
                              <p:par>
                                <p:cTn id="49" presetID="22" presetClass="entr" presetSubtype="4" fill="hold" grpId="0" nodeType="with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wipe(down)">
                                      <p:cBhvr>
                                        <p:cTn id="51" dur="12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10" grpId="0"/>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33ECA73-9BE1-C5FF-6330-47B4940F5C97}"/>
              </a:ext>
            </a:extLst>
          </p:cNvPr>
          <p:cNvSpPr txBox="1"/>
          <p:nvPr/>
        </p:nvSpPr>
        <p:spPr>
          <a:xfrm>
            <a:off x="662609" y="186394"/>
            <a:ext cx="2213113" cy="400110"/>
          </a:xfrm>
          <a:prstGeom prst="rect">
            <a:avLst/>
          </a:prstGeom>
          <a:noFill/>
        </p:spPr>
        <p:txBody>
          <a:bodyPr wrap="square">
            <a:spAutoFit/>
          </a:bodyPr>
          <a:lstStyle/>
          <a:p>
            <a:r>
              <a:rPr lang="en-IN" sz="2000" dirty="0"/>
              <a:t>➢ Power Supply </a:t>
            </a:r>
          </a:p>
        </p:txBody>
      </p:sp>
      <p:sp>
        <p:nvSpPr>
          <p:cNvPr id="7" name="TextBox 6">
            <a:extLst>
              <a:ext uri="{FF2B5EF4-FFF2-40B4-BE49-F238E27FC236}">
                <a16:creationId xmlns:a16="http://schemas.microsoft.com/office/drawing/2014/main" id="{781EADA1-1D17-F4D8-49DD-3D1E98488044}"/>
              </a:ext>
            </a:extLst>
          </p:cNvPr>
          <p:cNvSpPr txBox="1"/>
          <p:nvPr/>
        </p:nvSpPr>
        <p:spPr>
          <a:xfrm>
            <a:off x="6096000" y="186394"/>
            <a:ext cx="2570922" cy="400110"/>
          </a:xfrm>
          <a:prstGeom prst="rect">
            <a:avLst/>
          </a:prstGeom>
          <a:noFill/>
        </p:spPr>
        <p:txBody>
          <a:bodyPr wrap="square">
            <a:spAutoFit/>
          </a:bodyPr>
          <a:lstStyle/>
          <a:p>
            <a:r>
              <a:rPr lang="en-IN" sz="2000" dirty="0"/>
              <a:t>➢ Connecting Wires</a:t>
            </a:r>
          </a:p>
        </p:txBody>
      </p:sp>
      <p:pic>
        <p:nvPicPr>
          <p:cNvPr id="9" name="Picture 8">
            <a:extLst>
              <a:ext uri="{FF2B5EF4-FFF2-40B4-BE49-F238E27FC236}">
                <a16:creationId xmlns:a16="http://schemas.microsoft.com/office/drawing/2014/main" id="{2A6914F8-CBE3-1BBB-9D68-8AE28262CC32}"/>
              </a:ext>
            </a:extLst>
          </p:cNvPr>
          <p:cNvPicPr>
            <a:picLocks noChangeAspect="1"/>
          </p:cNvPicPr>
          <p:nvPr/>
        </p:nvPicPr>
        <p:blipFill>
          <a:blip r:embed="rId2"/>
          <a:stretch>
            <a:fillRect/>
          </a:stretch>
        </p:blipFill>
        <p:spPr>
          <a:xfrm>
            <a:off x="1046714" y="782499"/>
            <a:ext cx="3750573" cy="1669154"/>
          </a:xfrm>
          <a:prstGeom prst="rect">
            <a:avLst/>
          </a:prstGeom>
        </p:spPr>
      </p:pic>
      <p:pic>
        <p:nvPicPr>
          <p:cNvPr id="11" name="Picture 10">
            <a:extLst>
              <a:ext uri="{FF2B5EF4-FFF2-40B4-BE49-F238E27FC236}">
                <a16:creationId xmlns:a16="http://schemas.microsoft.com/office/drawing/2014/main" id="{3C9C5700-A49E-FDA4-4B25-380CFA3F3BC3}"/>
              </a:ext>
            </a:extLst>
          </p:cNvPr>
          <p:cNvPicPr>
            <a:picLocks noChangeAspect="1"/>
          </p:cNvPicPr>
          <p:nvPr/>
        </p:nvPicPr>
        <p:blipFill>
          <a:blip r:embed="rId3"/>
          <a:stretch>
            <a:fillRect/>
          </a:stretch>
        </p:blipFill>
        <p:spPr>
          <a:xfrm>
            <a:off x="6434102" y="637579"/>
            <a:ext cx="3750572" cy="1669155"/>
          </a:xfrm>
          <a:prstGeom prst="rect">
            <a:avLst/>
          </a:prstGeom>
        </p:spPr>
      </p:pic>
      <p:sp>
        <p:nvSpPr>
          <p:cNvPr id="13" name="TextBox 12">
            <a:extLst>
              <a:ext uri="{FF2B5EF4-FFF2-40B4-BE49-F238E27FC236}">
                <a16:creationId xmlns:a16="http://schemas.microsoft.com/office/drawing/2014/main" id="{F87B7B12-4EA1-AB7D-CBEE-7ECE5E33D470}"/>
              </a:ext>
            </a:extLst>
          </p:cNvPr>
          <p:cNvSpPr txBox="1"/>
          <p:nvPr/>
        </p:nvSpPr>
        <p:spPr>
          <a:xfrm>
            <a:off x="3717380" y="2306734"/>
            <a:ext cx="4757240" cy="707886"/>
          </a:xfrm>
          <a:prstGeom prst="rect">
            <a:avLst/>
          </a:prstGeom>
          <a:noFill/>
        </p:spPr>
        <p:txBody>
          <a:bodyPr wrap="square">
            <a:spAutoFit/>
          </a:bodyPr>
          <a:lstStyle/>
          <a:p>
            <a:r>
              <a:rPr lang="en-IN" sz="4000" b="1" dirty="0">
                <a:ln w="22225">
                  <a:solidFill>
                    <a:schemeClr val="accent2"/>
                  </a:solidFill>
                  <a:prstDash val="solid"/>
                </a:ln>
                <a:solidFill>
                  <a:schemeClr val="accent2">
                    <a:lumMod val="40000"/>
                    <a:lumOff val="60000"/>
                  </a:schemeClr>
                </a:solidFill>
              </a:rPr>
              <a:t>CIRCUIT DIAGRAM</a:t>
            </a:r>
          </a:p>
        </p:txBody>
      </p:sp>
      <p:pic>
        <p:nvPicPr>
          <p:cNvPr id="15" name="Picture 14">
            <a:extLst>
              <a:ext uri="{FF2B5EF4-FFF2-40B4-BE49-F238E27FC236}">
                <a16:creationId xmlns:a16="http://schemas.microsoft.com/office/drawing/2014/main" id="{03025F4E-7E45-B366-BFFB-F35F191428FB}"/>
              </a:ext>
            </a:extLst>
          </p:cNvPr>
          <p:cNvPicPr>
            <a:picLocks noChangeAspect="1"/>
          </p:cNvPicPr>
          <p:nvPr/>
        </p:nvPicPr>
        <p:blipFill>
          <a:blip r:embed="rId4"/>
          <a:stretch>
            <a:fillRect/>
          </a:stretch>
        </p:blipFill>
        <p:spPr>
          <a:xfrm>
            <a:off x="2007325" y="3065695"/>
            <a:ext cx="8177349" cy="3387634"/>
          </a:xfrm>
          <a:prstGeom prst="rect">
            <a:avLst/>
          </a:prstGeom>
        </p:spPr>
      </p:pic>
    </p:spTree>
    <p:extLst>
      <p:ext uri="{BB962C8B-B14F-4D97-AF65-F5344CB8AC3E}">
        <p14:creationId xmlns:p14="http://schemas.microsoft.com/office/powerpoint/2010/main" val="3802235965"/>
      </p:ext>
    </p:extLst>
  </p:cSld>
  <p:clrMapOvr>
    <a:masterClrMapping/>
  </p:clrMapOvr>
  <mc:AlternateContent xmlns:mc="http://schemas.openxmlformats.org/markup-compatibility/2006" xmlns:p14="http://schemas.microsoft.com/office/powerpoint/2010/main">
    <mc:Choice Requires="p14">
      <p:transition spd="slow">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362">
                                          <p:stCondLst>
                                            <p:cond delay="0"/>
                                          </p:stCondLst>
                                        </p:cTn>
                                        <p:tgtEl>
                                          <p:spTgt spid="5"/>
                                        </p:tgtEl>
                                      </p:cBhvr>
                                    </p:animEffect>
                                    <p:anim calcmode="lin" valueType="num">
                                      <p:cBhvr>
                                        <p:cTn id="8" dur="1139"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9" dur="415"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10" dur="415" tmFilter="0, 0; 0.125,0.2665; 0.25,0.4; 0.375,0.465; 0.5,0.5;  0.625,0.535; 0.75,0.6; 0.875,0.7335; 1,1">
                                          <p:stCondLst>
                                            <p:cond delay="415"/>
                                          </p:stCondLst>
                                        </p:cTn>
                                        <p:tgtEl>
                                          <p:spTgt spid="5"/>
                                        </p:tgtEl>
                                        <p:attrNameLst>
                                          <p:attrName>ppt_y</p:attrName>
                                        </p:attrNameLst>
                                      </p:cBhvr>
                                      <p:tavLst>
                                        <p:tav tm="0" fmla="#ppt_y-sin(pi*$)/9">
                                          <p:val>
                                            <p:fltVal val="0"/>
                                          </p:val>
                                        </p:tav>
                                        <p:tav tm="100000">
                                          <p:val>
                                            <p:fltVal val="1"/>
                                          </p:val>
                                        </p:tav>
                                      </p:tavLst>
                                    </p:anim>
                                    <p:anim calcmode="lin" valueType="num">
                                      <p:cBhvr>
                                        <p:cTn id="11" dur="207" tmFilter="0, 0; 0.125,0.2665; 0.25,0.4; 0.375,0.465; 0.5,0.5;  0.625,0.535; 0.75,0.6; 0.875,0.7335; 1,1">
                                          <p:stCondLst>
                                            <p:cond delay="828"/>
                                          </p:stCondLst>
                                        </p:cTn>
                                        <p:tgtEl>
                                          <p:spTgt spid="5"/>
                                        </p:tgtEl>
                                        <p:attrNameLst>
                                          <p:attrName>ppt_y</p:attrName>
                                        </p:attrNameLst>
                                      </p:cBhvr>
                                      <p:tavLst>
                                        <p:tav tm="0" fmla="#ppt_y-sin(pi*$)/27">
                                          <p:val>
                                            <p:fltVal val="0"/>
                                          </p:val>
                                        </p:tav>
                                        <p:tav tm="100000">
                                          <p:val>
                                            <p:fltVal val="1"/>
                                          </p:val>
                                        </p:tav>
                                      </p:tavLst>
                                    </p:anim>
                                    <p:anim calcmode="lin" valueType="num">
                                      <p:cBhvr>
                                        <p:cTn id="12" dur="103" tmFilter="0, 0; 0.125,0.2665; 0.25,0.4; 0.375,0.465; 0.5,0.5;  0.625,0.535; 0.75,0.6; 0.875,0.7335; 1,1">
                                          <p:stCondLst>
                                            <p:cond delay="1035"/>
                                          </p:stCondLst>
                                        </p:cTn>
                                        <p:tgtEl>
                                          <p:spTgt spid="5"/>
                                        </p:tgtEl>
                                        <p:attrNameLst>
                                          <p:attrName>ppt_y</p:attrName>
                                        </p:attrNameLst>
                                      </p:cBhvr>
                                      <p:tavLst>
                                        <p:tav tm="0" fmla="#ppt_y-sin(pi*$)/81">
                                          <p:val>
                                            <p:fltVal val="0"/>
                                          </p:val>
                                        </p:tav>
                                        <p:tav tm="100000">
                                          <p:val>
                                            <p:fltVal val="1"/>
                                          </p:val>
                                        </p:tav>
                                      </p:tavLst>
                                    </p:anim>
                                    <p:animScale>
                                      <p:cBhvr>
                                        <p:cTn id="13" dur="16">
                                          <p:stCondLst>
                                            <p:cond delay="406"/>
                                          </p:stCondLst>
                                        </p:cTn>
                                        <p:tgtEl>
                                          <p:spTgt spid="5"/>
                                        </p:tgtEl>
                                      </p:cBhvr>
                                      <p:to x="100000" y="60000"/>
                                    </p:animScale>
                                    <p:animScale>
                                      <p:cBhvr>
                                        <p:cTn id="14" dur="104" decel="50000">
                                          <p:stCondLst>
                                            <p:cond delay="423"/>
                                          </p:stCondLst>
                                        </p:cTn>
                                        <p:tgtEl>
                                          <p:spTgt spid="5"/>
                                        </p:tgtEl>
                                      </p:cBhvr>
                                      <p:to x="100000" y="100000"/>
                                    </p:animScale>
                                    <p:animScale>
                                      <p:cBhvr>
                                        <p:cTn id="15" dur="16">
                                          <p:stCondLst>
                                            <p:cond delay="820"/>
                                          </p:stCondLst>
                                        </p:cTn>
                                        <p:tgtEl>
                                          <p:spTgt spid="5"/>
                                        </p:tgtEl>
                                      </p:cBhvr>
                                      <p:to x="100000" y="80000"/>
                                    </p:animScale>
                                    <p:animScale>
                                      <p:cBhvr>
                                        <p:cTn id="16" dur="104" decel="50000">
                                          <p:stCondLst>
                                            <p:cond delay="836"/>
                                          </p:stCondLst>
                                        </p:cTn>
                                        <p:tgtEl>
                                          <p:spTgt spid="5"/>
                                        </p:tgtEl>
                                      </p:cBhvr>
                                      <p:to x="100000" y="100000"/>
                                    </p:animScale>
                                    <p:animScale>
                                      <p:cBhvr>
                                        <p:cTn id="17" dur="16">
                                          <p:stCondLst>
                                            <p:cond delay="1026"/>
                                          </p:stCondLst>
                                        </p:cTn>
                                        <p:tgtEl>
                                          <p:spTgt spid="5"/>
                                        </p:tgtEl>
                                      </p:cBhvr>
                                      <p:to x="100000" y="90000"/>
                                    </p:animScale>
                                    <p:animScale>
                                      <p:cBhvr>
                                        <p:cTn id="18" dur="104" decel="50000">
                                          <p:stCondLst>
                                            <p:cond delay="1042"/>
                                          </p:stCondLst>
                                        </p:cTn>
                                        <p:tgtEl>
                                          <p:spTgt spid="5"/>
                                        </p:tgtEl>
                                      </p:cBhvr>
                                      <p:to x="100000" y="100000"/>
                                    </p:animScale>
                                    <p:animScale>
                                      <p:cBhvr>
                                        <p:cTn id="19" dur="16">
                                          <p:stCondLst>
                                            <p:cond delay="1130"/>
                                          </p:stCondLst>
                                        </p:cTn>
                                        <p:tgtEl>
                                          <p:spTgt spid="5"/>
                                        </p:tgtEl>
                                      </p:cBhvr>
                                      <p:to x="100000" y="95000"/>
                                    </p:animScale>
                                    <p:animScale>
                                      <p:cBhvr>
                                        <p:cTn id="20" dur="104" decel="50000">
                                          <p:stCondLst>
                                            <p:cond delay="1146"/>
                                          </p:stCondLst>
                                        </p:cTn>
                                        <p:tgtEl>
                                          <p:spTgt spid="5"/>
                                        </p:tgtEl>
                                      </p:cBhvr>
                                      <p:to x="100000" y="100000"/>
                                    </p:animScale>
                                  </p:childTnLst>
                                </p:cTn>
                              </p:par>
                              <p:par>
                                <p:cTn id="21" presetID="22" presetClass="entr" presetSubtype="4"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down)">
                                      <p:cBhvr>
                                        <p:cTn id="23" dur="1250"/>
                                        <p:tgtEl>
                                          <p:spTgt spid="9"/>
                                        </p:tgtEl>
                                      </p:cBhvr>
                                    </p:animEffect>
                                  </p:childTnLst>
                                </p:cTn>
                              </p:par>
                              <p:par>
                                <p:cTn id="24" presetID="26" presetClass="entr" presetSubtype="0"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down)">
                                      <p:cBhvr>
                                        <p:cTn id="26" dur="362">
                                          <p:stCondLst>
                                            <p:cond delay="0"/>
                                          </p:stCondLst>
                                        </p:cTn>
                                        <p:tgtEl>
                                          <p:spTgt spid="7"/>
                                        </p:tgtEl>
                                      </p:cBhvr>
                                    </p:animEffect>
                                    <p:anim calcmode="lin" valueType="num">
                                      <p:cBhvr>
                                        <p:cTn id="27" dur="1139"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28" dur="415"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29" dur="415" tmFilter="0, 0; 0.125,0.2665; 0.25,0.4; 0.375,0.465; 0.5,0.5;  0.625,0.535; 0.75,0.6; 0.875,0.7335; 1,1">
                                          <p:stCondLst>
                                            <p:cond delay="415"/>
                                          </p:stCondLst>
                                        </p:cTn>
                                        <p:tgtEl>
                                          <p:spTgt spid="7"/>
                                        </p:tgtEl>
                                        <p:attrNameLst>
                                          <p:attrName>ppt_y</p:attrName>
                                        </p:attrNameLst>
                                      </p:cBhvr>
                                      <p:tavLst>
                                        <p:tav tm="0" fmla="#ppt_y-sin(pi*$)/9">
                                          <p:val>
                                            <p:fltVal val="0"/>
                                          </p:val>
                                        </p:tav>
                                        <p:tav tm="100000">
                                          <p:val>
                                            <p:fltVal val="1"/>
                                          </p:val>
                                        </p:tav>
                                      </p:tavLst>
                                    </p:anim>
                                    <p:anim calcmode="lin" valueType="num">
                                      <p:cBhvr>
                                        <p:cTn id="30" dur="207" tmFilter="0, 0; 0.125,0.2665; 0.25,0.4; 0.375,0.465; 0.5,0.5;  0.625,0.535; 0.75,0.6; 0.875,0.7335; 1,1">
                                          <p:stCondLst>
                                            <p:cond delay="828"/>
                                          </p:stCondLst>
                                        </p:cTn>
                                        <p:tgtEl>
                                          <p:spTgt spid="7"/>
                                        </p:tgtEl>
                                        <p:attrNameLst>
                                          <p:attrName>ppt_y</p:attrName>
                                        </p:attrNameLst>
                                      </p:cBhvr>
                                      <p:tavLst>
                                        <p:tav tm="0" fmla="#ppt_y-sin(pi*$)/27">
                                          <p:val>
                                            <p:fltVal val="0"/>
                                          </p:val>
                                        </p:tav>
                                        <p:tav tm="100000">
                                          <p:val>
                                            <p:fltVal val="1"/>
                                          </p:val>
                                        </p:tav>
                                      </p:tavLst>
                                    </p:anim>
                                    <p:anim calcmode="lin" valueType="num">
                                      <p:cBhvr>
                                        <p:cTn id="31" dur="103" tmFilter="0, 0; 0.125,0.2665; 0.25,0.4; 0.375,0.465; 0.5,0.5;  0.625,0.535; 0.75,0.6; 0.875,0.7335; 1,1">
                                          <p:stCondLst>
                                            <p:cond delay="1035"/>
                                          </p:stCondLst>
                                        </p:cTn>
                                        <p:tgtEl>
                                          <p:spTgt spid="7"/>
                                        </p:tgtEl>
                                        <p:attrNameLst>
                                          <p:attrName>ppt_y</p:attrName>
                                        </p:attrNameLst>
                                      </p:cBhvr>
                                      <p:tavLst>
                                        <p:tav tm="0" fmla="#ppt_y-sin(pi*$)/81">
                                          <p:val>
                                            <p:fltVal val="0"/>
                                          </p:val>
                                        </p:tav>
                                        <p:tav tm="100000">
                                          <p:val>
                                            <p:fltVal val="1"/>
                                          </p:val>
                                        </p:tav>
                                      </p:tavLst>
                                    </p:anim>
                                    <p:animScale>
                                      <p:cBhvr>
                                        <p:cTn id="32" dur="16">
                                          <p:stCondLst>
                                            <p:cond delay="406"/>
                                          </p:stCondLst>
                                        </p:cTn>
                                        <p:tgtEl>
                                          <p:spTgt spid="7"/>
                                        </p:tgtEl>
                                      </p:cBhvr>
                                      <p:to x="100000" y="60000"/>
                                    </p:animScale>
                                    <p:animScale>
                                      <p:cBhvr>
                                        <p:cTn id="33" dur="104" decel="50000">
                                          <p:stCondLst>
                                            <p:cond delay="423"/>
                                          </p:stCondLst>
                                        </p:cTn>
                                        <p:tgtEl>
                                          <p:spTgt spid="7"/>
                                        </p:tgtEl>
                                      </p:cBhvr>
                                      <p:to x="100000" y="100000"/>
                                    </p:animScale>
                                    <p:animScale>
                                      <p:cBhvr>
                                        <p:cTn id="34" dur="16">
                                          <p:stCondLst>
                                            <p:cond delay="820"/>
                                          </p:stCondLst>
                                        </p:cTn>
                                        <p:tgtEl>
                                          <p:spTgt spid="7"/>
                                        </p:tgtEl>
                                      </p:cBhvr>
                                      <p:to x="100000" y="80000"/>
                                    </p:animScale>
                                    <p:animScale>
                                      <p:cBhvr>
                                        <p:cTn id="35" dur="104" decel="50000">
                                          <p:stCondLst>
                                            <p:cond delay="836"/>
                                          </p:stCondLst>
                                        </p:cTn>
                                        <p:tgtEl>
                                          <p:spTgt spid="7"/>
                                        </p:tgtEl>
                                      </p:cBhvr>
                                      <p:to x="100000" y="100000"/>
                                    </p:animScale>
                                    <p:animScale>
                                      <p:cBhvr>
                                        <p:cTn id="36" dur="16">
                                          <p:stCondLst>
                                            <p:cond delay="1026"/>
                                          </p:stCondLst>
                                        </p:cTn>
                                        <p:tgtEl>
                                          <p:spTgt spid="7"/>
                                        </p:tgtEl>
                                      </p:cBhvr>
                                      <p:to x="100000" y="90000"/>
                                    </p:animScale>
                                    <p:animScale>
                                      <p:cBhvr>
                                        <p:cTn id="37" dur="104" decel="50000">
                                          <p:stCondLst>
                                            <p:cond delay="1042"/>
                                          </p:stCondLst>
                                        </p:cTn>
                                        <p:tgtEl>
                                          <p:spTgt spid="7"/>
                                        </p:tgtEl>
                                      </p:cBhvr>
                                      <p:to x="100000" y="100000"/>
                                    </p:animScale>
                                    <p:animScale>
                                      <p:cBhvr>
                                        <p:cTn id="38" dur="16">
                                          <p:stCondLst>
                                            <p:cond delay="1130"/>
                                          </p:stCondLst>
                                        </p:cTn>
                                        <p:tgtEl>
                                          <p:spTgt spid="7"/>
                                        </p:tgtEl>
                                      </p:cBhvr>
                                      <p:to x="100000" y="95000"/>
                                    </p:animScale>
                                    <p:animScale>
                                      <p:cBhvr>
                                        <p:cTn id="39" dur="104" decel="50000">
                                          <p:stCondLst>
                                            <p:cond delay="1146"/>
                                          </p:stCondLst>
                                        </p:cTn>
                                        <p:tgtEl>
                                          <p:spTgt spid="7"/>
                                        </p:tgtEl>
                                      </p:cBhvr>
                                      <p:to x="100000" y="100000"/>
                                    </p:animScale>
                                  </p:childTnLst>
                                </p:cTn>
                              </p:par>
                              <p:par>
                                <p:cTn id="40" presetID="22" presetClass="entr" presetSubtype="4" fill="hold" nodeType="with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wipe(down)">
                                      <p:cBhvr>
                                        <p:cTn id="42" dur="125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animEffect transition="in" filter="fade">
                                      <p:cBhvr>
                                        <p:cTn id="47" dur="1250"/>
                                        <p:tgtEl>
                                          <p:spTgt spid="13"/>
                                        </p:tgtEl>
                                      </p:cBhvr>
                                    </p:animEffect>
                                    <p:anim calcmode="lin" valueType="num">
                                      <p:cBhvr>
                                        <p:cTn id="48" dur="1250" fill="hold"/>
                                        <p:tgtEl>
                                          <p:spTgt spid="13"/>
                                        </p:tgtEl>
                                        <p:attrNameLst>
                                          <p:attrName>ppt_x</p:attrName>
                                        </p:attrNameLst>
                                      </p:cBhvr>
                                      <p:tavLst>
                                        <p:tav tm="0">
                                          <p:val>
                                            <p:strVal val="#ppt_x"/>
                                          </p:val>
                                        </p:tav>
                                        <p:tav tm="100000">
                                          <p:val>
                                            <p:strVal val="#ppt_x"/>
                                          </p:val>
                                        </p:tav>
                                      </p:tavLst>
                                    </p:anim>
                                    <p:anim calcmode="lin" valueType="num">
                                      <p:cBhvr>
                                        <p:cTn id="49" dur="1250" fill="hold"/>
                                        <p:tgtEl>
                                          <p:spTgt spid="13"/>
                                        </p:tgtEl>
                                        <p:attrNameLst>
                                          <p:attrName>ppt_y</p:attrName>
                                        </p:attrNameLst>
                                      </p:cBhvr>
                                      <p:tavLst>
                                        <p:tav tm="0">
                                          <p:val>
                                            <p:strVal val="#ppt_y+.1"/>
                                          </p:val>
                                        </p:tav>
                                        <p:tav tm="100000">
                                          <p:val>
                                            <p:strVal val="#ppt_y"/>
                                          </p:val>
                                        </p:tav>
                                      </p:tavLst>
                                    </p:anim>
                                  </p:childTnLst>
                                </p:cTn>
                              </p:par>
                            </p:childTnLst>
                          </p:cTn>
                        </p:par>
                        <p:par>
                          <p:cTn id="50" fill="hold">
                            <p:stCondLst>
                              <p:cond delay="1250"/>
                            </p:stCondLst>
                            <p:childTnLst>
                              <p:par>
                                <p:cTn id="51" presetID="14" presetClass="entr" presetSubtype="10" fill="hold" nodeType="afterEffect">
                                  <p:stCondLst>
                                    <p:cond delay="250"/>
                                  </p:stCondLst>
                                  <p:childTnLst>
                                    <p:set>
                                      <p:cBhvr>
                                        <p:cTn id="52" dur="1" fill="hold">
                                          <p:stCondLst>
                                            <p:cond delay="0"/>
                                          </p:stCondLst>
                                        </p:cTn>
                                        <p:tgtEl>
                                          <p:spTgt spid="15"/>
                                        </p:tgtEl>
                                        <p:attrNameLst>
                                          <p:attrName>style.visibility</p:attrName>
                                        </p:attrNameLst>
                                      </p:cBhvr>
                                      <p:to>
                                        <p:strVal val="visible"/>
                                      </p:to>
                                    </p:set>
                                    <p:animEffect transition="in" filter="randombar(horizontal)">
                                      <p:cBhvr>
                                        <p:cTn id="53" dur="1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FB68A6C-D941-0400-C102-22B39B265A1F}"/>
              </a:ext>
            </a:extLst>
          </p:cNvPr>
          <p:cNvSpPr txBox="1"/>
          <p:nvPr/>
        </p:nvSpPr>
        <p:spPr>
          <a:xfrm>
            <a:off x="4288971" y="0"/>
            <a:ext cx="3614057" cy="769441"/>
          </a:xfrm>
          <a:prstGeom prst="rect">
            <a:avLst/>
          </a:prstGeom>
          <a:noFill/>
        </p:spPr>
        <p:txBody>
          <a:bodyPr wrap="square">
            <a:spAutoFit/>
          </a:bodyPr>
          <a:lstStyle/>
          <a:p>
            <a:r>
              <a:rPr lang="en-US" sz="4400" b="1" dirty="0">
                <a:ln w="22225">
                  <a:solidFill>
                    <a:schemeClr val="accent2"/>
                  </a:solidFill>
                  <a:prstDash val="solid"/>
                </a:ln>
                <a:solidFill>
                  <a:schemeClr val="accent2">
                    <a:lumMod val="40000"/>
                    <a:lumOff val="60000"/>
                  </a:schemeClr>
                </a:solidFill>
              </a:rPr>
              <a:t>FLOW CHART</a:t>
            </a:r>
            <a:endParaRPr lang="en-IN" sz="4400" b="1" dirty="0">
              <a:ln w="22225">
                <a:solidFill>
                  <a:schemeClr val="accent2"/>
                </a:solidFill>
                <a:prstDash val="solid"/>
              </a:ln>
              <a:solidFill>
                <a:schemeClr val="accent2">
                  <a:lumMod val="40000"/>
                  <a:lumOff val="60000"/>
                </a:schemeClr>
              </a:solidFill>
            </a:endParaRPr>
          </a:p>
        </p:txBody>
      </p:sp>
      <p:pic>
        <p:nvPicPr>
          <p:cNvPr id="7" name="Graphic 6" descr="Walk">
            <a:extLst>
              <a:ext uri="{FF2B5EF4-FFF2-40B4-BE49-F238E27FC236}">
                <a16:creationId xmlns:a16="http://schemas.microsoft.com/office/drawing/2014/main" id="{00EE5BE7-CB1A-8C87-3358-573CF436A1C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 y="2229406"/>
            <a:ext cx="1149535" cy="1143000"/>
          </a:xfrm>
          <a:prstGeom prst="rect">
            <a:avLst/>
          </a:prstGeom>
        </p:spPr>
      </p:pic>
      <p:pic>
        <p:nvPicPr>
          <p:cNvPr id="9" name="Graphic 8" descr="Bus">
            <a:extLst>
              <a:ext uri="{FF2B5EF4-FFF2-40B4-BE49-F238E27FC236}">
                <a16:creationId xmlns:a16="http://schemas.microsoft.com/office/drawing/2014/main" id="{9A2B0418-BD6A-02D9-9A5D-C19C2CC7A9A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049787" y="2213617"/>
            <a:ext cx="1271460" cy="1174575"/>
          </a:xfrm>
          <a:prstGeom prst="rect">
            <a:avLst/>
          </a:prstGeom>
        </p:spPr>
      </p:pic>
      <p:pic>
        <p:nvPicPr>
          <p:cNvPr id="11" name="Graphic 10" descr="Chevron arrows">
            <a:extLst>
              <a:ext uri="{FF2B5EF4-FFF2-40B4-BE49-F238E27FC236}">
                <a16:creationId xmlns:a16="http://schemas.microsoft.com/office/drawing/2014/main" id="{385E483F-8442-B9F2-D81F-37F8F583B1A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96041" y="2540179"/>
            <a:ext cx="914400" cy="539931"/>
          </a:xfrm>
          <a:prstGeom prst="rect">
            <a:avLst/>
          </a:prstGeom>
        </p:spPr>
      </p:pic>
      <p:pic>
        <p:nvPicPr>
          <p:cNvPr id="13" name="Graphic 12" descr="Business Growth">
            <a:extLst>
              <a:ext uri="{FF2B5EF4-FFF2-40B4-BE49-F238E27FC236}">
                <a16:creationId xmlns:a16="http://schemas.microsoft.com/office/drawing/2014/main" id="{56E28EE5-AEA5-5395-CEB2-DF42C3F1600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834444" y="2352944"/>
            <a:ext cx="1092926" cy="914400"/>
          </a:xfrm>
          <a:prstGeom prst="rect">
            <a:avLst/>
          </a:prstGeom>
        </p:spPr>
      </p:pic>
      <p:pic>
        <p:nvPicPr>
          <p:cNvPr id="15" name="Graphic 14" descr="Tablet">
            <a:extLst>
              <a:ext uri="{FF2B5EF4-FFF2-40B4-BE49-F238E27FC236}">
                <a16:creationId xmlns:a16="http://schemas.microsoft.com/office/drawing/2014/main" id="{A09CC238-3141-A3B3-77FC-2E97BD9DB88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987630" y="2251170"/>
            <a:ext cx="1310640" cy="914400"/>
          </a:xfrm>
          <a:prstGeom prst="rect">
            <a:avLst/>
          </a:prstGeom>
        </p:spPr>
      </p:pic>
      <p:pic>
        <p:nvPicPr>
          <p:cNvPr id="17" name="Graphic 16" descr="Gears">
            <a:extLst>
              <a:ext uri="{FF2B5EF4-FFF2-40B4-BE49-F238E27FC236}">
                <a16:creationId xmlns:a16="http://schemas.microsoft.com/office/drawing/2014/main" id="{D539AE5D-62E1-1728-B1B9-94E2F04B8503}"/>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093714" y="2455279"/>
            <a:ext cx="1092926" cy="914400"/>
          </a:xfrm>
          <a:prstGeom prst="rect">
            <a:avLst/>
          </a:prstGeom>
        </p:spPr>
      </p:pic>
      <p:pic>
        <p:nvPicPr>
          <p:cNvPr id="19" name="Graphic 18" descr="Gears">
            <a:extLst>
              <a:ext uri="{FF2B5EF4-FFF2-40B4-BE49-F238E27FC236}">
                <a16:creationId xmlns:a16="http://schemas.microsoft.com/office/drawing/2014/main" id="{08159025-DED7-E4C1-9A12-9EEF75C7E38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959107" y="2453651"/>
            <a:ext cx="1018905" cy="914400"/>
          </a:xfrm>
          <a:prstGeom prst="rect">
            <a:avLst/>
          </a:prstGeom>
        </p:spPr>
      </p:pic>
      <p:sp>
        <p:nvSpPr>
          <p:cNvPr id="20" name="Arrow: Striped Right 19">
            <a:extLst>
              <a:ext uri="{FF2B5EF4-FFF2-40B4-BE49-F238E27FC236}">
                <a16:creationId xmlns:a16="http://schemas.microsoft.com/office/drawing/2014/main" id="{FDD93B5D-2285-FC06-5A15-839E72ABE280}"/>
              </a:ext>
            </a:extLst>
          </p:cNvPr>
          <p:cNvSpPr/>
          <p:nvPr/>
        </p:nvSpPr>
        <p:spPr>
          <a:xfrm>
            <a:off x="3587678" y="2685503"/>
            <a:ext cx="483326" cy="249282"/>
          </a:xfrm>
          <a:prstGeom prst="striped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21" name="Arrow: Striped Right 20">
            <a:extLst>
              <a:ext uri="{FF2B5EF4-FFF2-40B4-BE49-F238E27FC236}">
                <a16:creationId xmlns:a16="http://schemas.microsoft.com/office/drawing/2014/main" id="{5B1CAA30-F987-224E-7941-81B50D0A6198}"/>
              </a:ext>
            </a:extLst>
          </p:cNvPr>
          <p:cNvSpPr/>
          <p:nvPr/>
        </p:nvSpPr>
        <p:spPr>
          <a:xfrm>
            <a:off x="5299040" y="2685503"/>
            <a:ext cx="522516" cy="249282"/>
          </a:xfrm>
          <a:prstGeom prst="striped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22" name="Arrow: Striped Right 21">
            <a:extLst>
              <a:ext uri="{FF2B5EF4-FFF2-40B4-BE49-F238E27FC236}">
                <a16:creationId xmlns:a16="http://schemas.microsoft.com/office/drawing/2014/main" id="{FF00B894-E268-F373-D42A-DF258689C793}"/>
              </a:ext>
            </a:extLst>
          </p:cNvPr>
          <p:cNvSpPr/>
          <p:nvPr/>
        </p:nvSpPr>
        <p:spPr>
          <a:xfrm>
            <a:off x="7065916" y="2676264"/>
            <a:ext cx="522516" cy="249282"/>
          </a:xfrm>
          <a:prstGeom prst="striped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23" name="Arrow: Striped Right 22">
            <a:extLst>
              <a:ext uri="{FF2B5EF4-FFF2-40B4-BE49-F238E27FC236}">
                <a16:creationId xmlns:a16="http://schemas.microsoft.com/office/drawing/2014/main" id="{B4F336BD-0983-B3F5-2764-EAFD3170AC6E}"/>
              </a:ext>
            </a:extLst>
          </p:cNvPr>
          <p:cNvSpPr/>
          <p:nvPr/>
        </p:nvSpPr>
        <p:spPr>
          <a:xfrm>
            <a:off x="9173382" y="2583729"/>
            <a:ext cx="522516" cy="249282"/>
          </a:xfrm>
          <a:prstGeom prst="striped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24" name="Rectangle 23">
            <a:extLst>
              <a:ext uri="{FF2B5EF4-FFF2-40B4-BE49-F238E27FC236}">
                <a16:creationId xmlns:a16="http://schemas.microsoft.com/office/drawing/2014/main" id="{4F8C4EE3-9661-4B6B-ED8B-652957A479BB}"/>
              </a:ext>
            </a:extLst>
          </p:cNvPr>
          <p:cNvSpPr/>
          <p:nvPr/>
        </p:nvSpPr>
        <p:spPr>
          <a:xfrm>
            <a:off x="438416" y="769441"/>
            <a:ext cx="3222742" cy="646331"/>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600" b="1" dirty="0">
                <a:ln/>
                <a:solidFill>
                  <a:schemeClr val="accent4"/>
                </a:solidFill>
              </a:rPr>
              <a:t>Passenger’s IN</a:t>
            </a:r>
          </a:p>
        </p:txBody>
      </p:sp>
      <p:sp>
        <p:nvSpPr>
          <p:cNvPr id="25" name="TextBox 24">
            <a:extLst>
              <a:ext uri="{FF2B5EF4-FFF2-40B4-BE49-F238E27FC236}">
                <a16:creationId xmlns:a16="http://schemas.microsoft.com/office/drawing/2014/main" id="{C5F4E152-BF31-7795-FEEE-07C8B1CC80B5}"/>
              </a:ext>
            </a:extLst>
          </p:cNvPr>
          <p:cNvSpPr txBox="1"/>
          <p:nvPr/>
        </p:nvSpPr>
        <p:spPr>
          <a:xfrm>
            <a:off x="4" y="3485595"/>
            <a:ext cx="2299060" cy="923330"/>
          </a:xfrm>
          <a:prstGeom prst="rect">
            <a:avLst/>
          </a:prstGeom>
          <a:noFill/>
        </p:spPr>
        <p:txBody>
          <a:bodyPr wrap="square" rtlCol="0">
            <a:spAutoFit/>
          </a:bodyPr>
          <a:lstStyle/>
          <a:p>
            <a:r>
              <a:rPr lang="en-US" dirty="0"/>
              <a:t>Passenger’s entering </a:t>
            </a:r>
          </a:p>
          <a:p>
            <a:r>
              <a:rPr lang="en-US" dirty="0"/>
              <a:t>into the BUS.</a:t>
            </a:r>
          </a:p>
          <a:p>
            <a:r>
              <a:rPr lang="en-US" dirty="0"/>
              <a:t>Initially count=0 </a:t>
            </a:r>
            <a:endParaRPr lang="en-IN" dirty="0"/>
          </a:p>
        </p:txBody>
      </p:sp>
      <p:sp>
        <p:nvSpPr>
          <p:cNvPr id="26" name="TextBox 25">
            <a:extLst>
              <a:ext uri="{FF2B5EF4-FFF2-40B4-BE49-F238E27FC236}">
                <a16:creationId xmlns:a16="http://schemas.microsoft.com/office/drawing/2014/main" id="{BF4E8268-D82C-9F7F-02DF-B24A4BEE8F45}"/>
              </a:ext>
            </a:extLst>
          </p:cNvPr>
          <p:cNvSpPr txBox="1"/>
          <p:nvPr/>
        </p:nvSpPr>
        <p:spPr>
          <a:xfrm flipH="1">
            <a:off x="4126371" y="3485595"/>
            <a:ext cx="1027611" cy="369332"/>
          </a:xfrm>
          <a:prstGeom prst="rect">
            <a:avLst/>
          </a:prstGeom>
          <a:noFill/>
        </p:spPr>
        <p:txBody>
          <a:bodyPr wrap="square" rtlCol="0">
            <a:spAutoFit/>
          </a:bodyPr>
          <a:lstStyle/>
          <a:p>
            <a:r>
              <a:rPr lang="en-IN" dirty="0"/>
              <a:t>Sensor1</a:t>
            </a:r>
          </a:p>
        </p:txBody>
      </p:sp>
      <p:sp>
        <p:nvSpPr>
          <p:cNvPr id="28" name="TextBox 27">
            <a:extLst>
              <a:ext uri="{FF2B5EF4-FFF2-40B4-BE49-F238E27FC236}">
                <a16:creationId xmlns:a16="http://schemas.microsoft.com/office/drawing/2014/main" id="{03A550C5-A21C-17F5-A2FE-ACA80DC56F4B}"/>
              </a:ext>
            </a:extLst>
          </p:cNvPr>
          <p:cNvSpPr txBox="1"/>
          <p:nvPr/>
        </p:nvSpPr>
        <p:spPr>
          <a:xfrm>
            <a:off x="5895285" y="3485595"/>
            <a:ext cx="1045714" cy="378440"/>
          </a:xfrm>
          <a:prstGeom prst="rect">
            <a:avLst/>
          </a:prstGeom>
          <a:noFill/>
        </p:spPr>
        <p:txBody>
          <a:bodyPr wrap="square">
            <a:spAutoFit/>
          </a:bodyPr>
          <a:lstStyle/>
          <a:p>
            <a:r>
              <a:rPr lang="en-IN" dirty="0"/>
              <a:t>Sensor2</a:t>
            </a:r>
          </a:p>
        </p:txBody>
      </p:sp>
      <p:sp>
        <p:nvSpPr>
          <p:cNvPr id="29" name="TextBox 28">
            <a:extLst>
              <a:ext uri="{FF2B5EF4-FFF2-40B4-BE49-F238E27FC236}">
                <a16:creationId xmlns:a16="http://schemas.microsoft.com/office/drawing/2014/main" id="{06F9AC59-636A-AFC2-7A39-04C7A5C8240C}"/>
              </a:ext>
            </a:extLst>
          </p:cNvPr>
          <p:cNvSpPr txBox="1"/>
          <p:nvPr/>
        </p:nvSpPr>
        <p:spPr>
          <a:xfrm>
            <a:off x="7755247" y="3485595"/>
            <a:ext cx="1418135" cy="923330"/>
          </a:xfrm>
          <a:prstGeom prst="rect">
            <a:avLst/>
          </a:prstGeom>
          <a:noFill/>
        </p:spPr>
        <p:txBody>
          <a:bodyPr wrap="square" rtlCol="0">
            <a:spAutoFit/>
          </a:bodyPr>
          <a:lstStyle/>
          <a:p>
            <a:r>
              <a:rPr lang="en-IN" dirty="0"/>
              <a:t>Increase in count of Passengers </a:t>
            </a:r>
          </a:p>
        </p:txBody>
      </p:sp>
      <p:sp>
        <p:nvSpPr>
          <p:cNvPr id="30" name="TextBox 29">
            <a:extLst>
              <a:ext uri="{FF2B5EF4-FFF2-40B4-BE49-F238E27FC236}">
                <a16:creationId xmlns:a16="http://schemas.microsoft.com/office/drawing/2014/main" id="{3D3B4BEF-D8D6-2176-8D14-1E321EB0E7F4}"/>
              </a:ext>
            </a:extLst>
          </p:cNvPr>
          <p:cNvSpPr txBox="1"/>
          <p:nvPr/>
        </p:nvSpPr>
        <p:spPr>
          <a:xfrm>
            <a:off x="9940132" y="3489410"/>
            <a:ext cx="1194176" cy="646331"/>
          </a:xfrm>
          <a:prstGeom prst="rect">
            <a:avLst/>
          </a:prstGeom>
          <a:noFill/>
        </p:spPr>
        <p:txBody>
          <a:bodyPr wrap="square" rtlCol="0">
            <a:spAutoFit/>
          </a:bodyPr>
          <a:lstStyle/>
          <a:p>
            <a:r>
              <a:rPr lang="en-IN" dirty="0"/>
              <a:t>Display the count</a:t>
            </a:r>
          </a:p>
        </p:txBody>
      </p:sp>
      <p:sp>
        <p:nvSpPr>
          <p:cNvPr id="36" name="Arrow: Bent-Up 35">
            <a:extLst>
              <a:ext uri="{FF2B5EF4-FFF2-40B4-BE49-F238E27FC236}">
                <a16:creationId xmlns:a16="http://schemas.microsoft.com/office/drawing/2014/main" id="{2CB2E597-2E41-43C6-3AF8-D6CC3DEDCFF1}"/>
              </a:ext>
            </a:extLst>
          </p:cNvPr>
          <p:cNvSpPr/>
          <p:nvPr/>
        </p:nvSpPr>
        <p:spPr>
          <a:xfrm rot="10800000">
            <a:off x="2551063" y="1839309"/>
            <a:ext cx="8206747" cy="495106"/>
          </a:xfrm>
          <a:prstGeom prst="bentUpArrow">
            <a:avLst>
              <a:gd name="adj1" fmla="val 25000"/>
              <a:gd name="adj2" fmla="val 32529"/>
              <a:gd name="adj3" fmla="val 25000"/>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9" name="Rectangle 38">
            <a:extLst>
              <a:ext uri="{FF2B5EF4-FFF2-40B4-BE49-F238E27FC236}">
                <a16:creationId xmlns:a16="http://schemas.microsoft.com/office/drawing/2014/main" id="{FADB429B-6624-3BE0-7947-1438D76C35DD}"/>
              </a:ext>
            </a:extLst>
          </p:cNvPr>
          <p:cNvSpPr/>
          <p:nvPr/>
        </p:nvSpPr>
        <p:spPr>
          <a:xfrm>
            <a:off x="10642950" y="1968135"/>
            <a:ext cx="114862" cy="441971"/>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43" name="Graphic 42" descr="Tablet">
            <a:extLst>
              <a:ext uri="{FF2B5EF4-FFF2-40B4-BE49-F238E27FC236}">
                <a16:creationId xmlns:a16="http://schemas.microsoft.com/office/drawing/2014/main" id="{0C3DB0BE-82CB-C7CB-ACE8-75B07B0778C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02492" y="4459581"/>
            <a:ext cx="1310640" cy="1039860"/>
          </a:xfrm>
          <a:prstGeom prst="rect">
            <a:avLst/>
          </a:prstGeom>
        </p:spPr>
      </p:pic>
      <p:sp>
        <p:nvSpPr>
          <p:cNvPr id="44" name="Arrow: Right 43">
            <a:extLst>
              <a:ext uri="{FF2B5EF4-FFF2-40B4-BE49-F238E27FC236}">
                <a16:creationId xmlns:a16="http://schemas.microsoft.com/office/drawing/2014/main" id="{DBF8FAD3-8EBF-8670-B5A2-3BAFD33E7FA1}"/>
              </a:ext>
            </a:extLst>
          </p:cNvPr>
          <p:cNvSpPr/>
          <p:nvPr/>
        </p:nvSpPr>
        <p:spPr>
          <a:xfrm>
            <a:off x="4596908" y="4820786"/>
            <a:ext cx="5548853" cy="317449"/>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5" name="Rectangle 44">
            <a:extLst>
              <a:ext uri="{FF2B5EF4-FFF2-40B4-BE49-F238E27FC236}">
                <a16:creationId xmlns:a16="http://schemas.microsoft.com/office/drawing/2014/main" id="{8E7FA353-6FE0-C94B-84E6-A6DD093D2399}"/>
              </a:ext>
            </a:extLst>
          </p:cNvPr>
          <p:cNvSpPr/>
          <p:nvPr/>
        </p:nvSpPr>
        <p:spPr>
          <a:xfrm>
            <a:off x="4457446" y="3864035"/>
            <a:ext cx="160154" cy="119564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6" name="Rectangle 45">
            <a:extLst>
              <a:ext uri="{FF2B5EF4-FFF2-40B4-BE49-F238E27FC236}">
                <a16:creationId xmlns:a16="http://schemas.microsoft.com/office/drawing/2014/main" id="{1B5318BB-8FE6-1D7C-E5A0-78D8FEB00130}"/>
              </a:ext>
            </a:extLst>
          </p:cNvPr>
          <p:cNvSpPr/>
          <p:nvPr/>
        </p:nvSpPr>
        <p:spPr>
          <a:xfrm>
            <a:off x="6382155" y="3854927"/>
            <a:ext cx="160154" cy="119564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7" name="TextBox 46">
            <a:extLst>
              <a:ext uri="{FF2B5EF4-FFF2-40B4-BE49-F238E27FC236}">
                <a16:creationId xmlns:a16="http://schemas.microsoft.com/office/drawing/2014/main" id="{9BDE4D54-53F7-C2DF-377F-E93629779D27}"/>
              </a:ext>
            </a:extLst>
          </p:cNvPr>
          <p:cNvSpPr txBox="1"/>
          <p:nvPr/>
        </p:nvSpPr>
        <p:spPr>
          <a:xfrm>
            <a:off x="9987630" y="5550096"/>
            <a:ext cx="2168434" cy="646331"/>
          </a:xfrm>
          <a:prstGeom prst="rect">
            <a:avLst/>
          </a:prstGeom>
          <a:noFill/>
        </p:spPr>
        <p:txBody>
          <a:bodyPr wrap="square" rtlCol="0">
            <a:spAutoFit/>
          </a:bodyPr>
          <a:lstStyle/>
          <a:p>
            <a:r>
              <a:rPr lang="en-IN" dirty="0"/>
              <a:t>Display the previous count</a:t>
            </a:r>
          </a:p>
        </p:txBody>
      </p:sp>
      <p:sp>
        <p:nvSpPr>
          <p:cNvPr id="48" name="TextBox 47">
            <a:extLst>
              <a:ext uri="{FF2B5EF4-FFF2-40B4-BE49-F238E27FC236}">
                <a16:creationId xmlns:a16="http://schemas.microsoft.com/office/drawing/2014/main" id="{98C0ACD5-B8F6-1D40-D351-3CCBC48E17B0}"/>
              </a:ext>
            </a:extLst>
          </p:cNvPr>
          <p:cNvSpPr txBox="1"/>
          <p:nvPr/>
        </p:nvSpPr>
        <p:spPr>
          <a:xfrm>
            <a:off x="5620293" y="1435881"/>
            <a:ext cx="2891246" cy="923330"/>
          </a:xfrm>
          <a:prstGeom prst="rect">
            <a:avLst/>
          </a:prstGeom>
          <a:noFill/>
        </p:spPr>
        <p:txBody>
          <a:bodyPr wrap="square" rtlCol="0">
            <a:spAutoFit/>
          </a:bodyPr>
          <a:lstStyle/>
          <a:p>
            <a:r>
              <a:rPr lang="en-IN" dirty="0"/>
              <a:t>Repeat the process if</a:t>
            </a:r>
          </a:p>
          <a:p>
            <a:endParaRPr lang="en-IN" dirty="0"/>
          </a:p>
          <a:p>
            <a:r>
              <a:rPr lang="en-IN" dirty="0"/>
              <a:t>passengers entering.</a:t>
            </a:r>
          </a:p>
        </p:txBody>
      </p:sp>
      <p:sp>
        <p:nvSpPr>
          <p:cNvPr id="2" name="TextBox 1">
            <a:extLst>
              <a:ext uri="{FF2B5EF4-FFF2-40B4-BE49-F238E27FC236}">
                <a16:creationId xmlns:a16="http://schemas.microsoft.com/office/drawing/2014/main" id="{854178F4-056D-0D46-4339-675D019E498D}"/>
              </a:ext>
            </a:extLst>
          </p:cNvPr>
          <p:cNvSpPr txBox="1"/>
          <p:nvPr/>
        </p:nvSpPr>
        <p:spPr>
          <a:xfrm>
            <a:off x="4612640" y="4216132"/>
            <a:ext cx="1027611" cy="369332"/>
          </a:xfrm>
          <a:prstGeom prst="rect">
            <a:avLst/>
          </a:prstGeom>
          <a:noFill/>
        </p:spPr>
        <p:txBody>
          <a:bodyPr wrap="square" rtlCol="0">
            <a:spAutoFit/>
          </a:bodyPr>
          <a:lstStyle/>
          <a:p>
            <a:r>
              <a:rPr lang="en-IN" dirty="0"/>
              <a:t>Failed</a:t>
            </a:r>
          </a:p>
        </p:txBody>
      </p:sp>
      <p:sp>
        <p:nvSpPr>
          <p:cNvPr id="3" name="TextBox 2">
            <a:extLst>
              <a:ext uri="{FF2B5EF4-FFF2-40B4-BE49-F238E27FC236}">
                <a16:creationId xmlns:a16="http://schemas.microsoft.com/office/drawing/2014/main" id="{5ED00841-953F-5598-2B8A-7D986B07929E}"/>
              </a:ext>
            </a:extLst>
          </p:cNvPr>
          <p:cNvSpPr txBox="1"/>
          <p:nvPr/>
        </p:nvSpPr>
        <p:spPr>
          <a:xfrm>
            <a:off x="6514486" y="4179748"/>
            <a:ext cx="1027611" cy="369332"/>
          </a:xfrm>
          <a:prstGeom prst="rect">
            <a:avLst/>
          </a:prstGeom>
          <a:noFill/>
        </p:spPr>
        <p:txBody>
          <a:bodyPr wrap="square" rtlCol="0">
            <a:spAutoFit/>
          </a:bodyPr>
          <a:lstStyle/>
          <a:p>
            <a:r>
              <a:rPr lang="en-IN" dirty="0"/>
              <a:t>Failed</a:t>
            </a:r>
          </a:p>
        </p:txBody>
      </p:sp>
    </p:spTree>
    <p:extLst>
      <p:ext uri="{BB962C8B-B14F-4D97-AF65-F5344CB8AC3E}">
        <p14:creationId xmlns:p14="http://schemas.microsoft.com/office/powerpoint/2010/main" val="175372723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nodeType="afterEffect">
                                  <p:stCondLst>
                                    <p:cond delay="75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7">
                                          <p:stCondLst>
                                            <p:cond delay="0"/>
                                          </p:stCondLst>
                                        </p:cTn>
                                        <p:tgtEl>
                                          <p:spTgt spid="7"/>
                                        </p:tgtEl>
                                      </p:cBhvr>
                                    </p:animEffect>
                                    <p:anim calcmode="lin" valueType="num">
                                      <p:cBhvr>
                                        <p:cTn id="8" dur="1594" tmFilter="0,0; 0.14,0.36; 0.43,0.73; 0.71,0.91; 1.0,1.0">
                                          <p:stCondLst>
                                            <p:cond delay="0"/>
                                          </p:stCondLst>
                                        </p:cTn>
                                        <p:tgtEl>
                                          <p:spTgt spid="7"/>
                                        </p:tgtEl>
                                        <p:attrNameLst>
                                          <p:attrName>ppt_x</p:attrName>
                                        </p:attrNameLst>
                                      </p:cBhvr>
                                      <p:tavLst>
                                        <p:tav tm="0">
                                          <p:val>
                                            <p:strVal val="#ppt_x-0.25"/>
                                          </p:val>
                                        </p:tav>
                                        <p:tav tm="100000">
                                          <p:val>
                                            <p:strVal val="#ppt_x"/>
                                          </p:val>
                                        </p:tav>
                                      </p:tavLst>
                                    </p:anim>
                                    <p:anim calcmode="lin" valueType="num">
                                      <p:cBhvr>
                                        <p:cTn id="9" dur="581" tmFilter="0.0,0.0; 0.25,0.07; 0.50,0.2; 0.75,0.467; 1.0,1.0">
                                          <p:stCondLst>
                                            <p:cond delay="0"/>
                                          </p:stCondLst>
                                        </p:cTn>
                                        <p:tgtEl>
                                          <p:spTgt spid="7"/>
                                        </p:tgtEl>
                                        <p:attrNameLst>
                                          <p:attrName>ppt_y</p:attrName>
                                        </p:attrNameLst>
                                      </p:cBhvr>
                                      <p:tavLst>
                                        <p:tav tm="0" fmla="#ppt_y-sin(pi*$)/3">
                                          <p:val>
                                            <p:fltVal val="0.5"/>
                                          </p:val>
                                        </p:tav>
                                        <p:tav tm="100000">
                                          <p:val>
                                            <p:fltVal val="1"/>
                                          </p:val>
                                        </p:tav>
                                      </p:tavLst>
                                    </p:anim>
                                    <p:anim calcmode="lin" valueType="num">
                                      <p:cBhvr>
                                        <p:cTn id="10" dur="581" tmFilter="0, 0; 0.125,0.2665; 0.25,0.4; 0.375,0.465; 0.5,0.5;  0.625,0.535; 0.75,0.6; 0.875,0.7335; 1,1">
                                          <p:stCondLst>
                                            <p:cond delay="581"/>
                                          </p:stCondLst>
                                        </p:cTn>
                                        <p:tgtEl>
                                          <p:spTgt spid="7"/>
                                        </p:tgtEl>
                                        <p:attrNameLst>
                                          <p:attrName>ppt_y</p:attrName>
                                        </p:attrNameLst>
                                      </p:cBhvr>
                                      <p:tavLst>
                                        <p:tav tm="0" fmla="#ppt_y-sin(pi*$)/9">
                                          <p:val>
                                            <p:fltVal val="0"/>
                                          </p:val>
                                        </p:tav>
                                        <p:tav tm="100000">
                                          <p:val>
                                            <p:fltVal val="1"/>
                                          </p:val>
                                        </p:tav>
                                      </p:tavLst>
                                    </p:anim>
                                    <p:anim calcmode="lin" valueType="num">
                                      <p:cBhvr>
                                        <p:cTn id="11" dur="291" tmFilter="0, 0; 0.125,0.2665; 0.25,0.4; 0.375,0.465; 0.5,0.5;  0.625,0.535; 0.75,0.6; 0.875,0.7335; 1,1">
                                          <p:stCondLst>
                                            <p:cond delay="1159"/>
                                          </p:stCondLst>
                                        </p:cTn>
                                        <p:tgtEl>
                                          <p:spTgt spid="7"/>
                                        </p:tgtEl>
                                        <p:attrNameLst>
                                          <p:attrName>ppt_y</p:attrName>
                                        </p:attrNameLst>
                                      </p:cBhvr>
                                      <p:tavLst>
                                        <p:tav tm="0" fmla="#ppt_y-sin(pi*$)/27">
                                          <p:val>
                                            <p:fltVal val="0"/>
                                          </p:val>
                                        </p:tav>
                                        <p:tav tm="100000">
                                          <p:val>
                                            <p:fltVal val="1"/>
                                          </p:val>
                                        </p:tav>
                                      </p:tavLst>
                                    </p:anim>
                                    <p:anim calcmode="lin" valueType="num">
                                      <p:cBhvr>
                                        <p:cTn id="12" dur="144" tmFilter="0, 0; 0.125,0.2665; 0.25,0.4; 0.375,0.465; 0.5,0.5;  0.625,0.535; 0.75,0.6; 0.875,0.7335; 1,1">
                                          <p:stCondLst>
                                            <p:cond delay="1449"/>
                                          </p:stCondLst>
                                        </p:cTn>
                                        <p:tgtEl>
                                          <p:spTgt spid="7"/>
                                        </p:tgtEl>
                                        <p:attrNameLst>
                                          <p:attrName>ppt_y</p:attrName>
                                        </p:attrNameLst>
                                      </p:cBhvr>
                                      <p:tavLst>
                                        <p:tav tm="0" fmla="#ppt_y-sin(pi*$)/81">
                                          <p:val>
                                            <p:fltVal val="0"/>
                                          </p:val>
                                        </p:tav>
                                        <p:tav tm="100000">
                                          <p:val>
                                            <p:fltVal val="1"/>
                                          </p:val>
                                        </p:tav>
                                      </p:tavLst>
                                    </p:anim>
                                    <p:animScale>
                                      <p:cBhvr>
                                        <p:cTn id="13" dur="23">
                                          <p:stCondLst>
                                            <p:cond delay="569"/>
                                          </p:stCondLst>
                                        </p:cTn>
                                        <p:tgtEl>
                                          <p:spTgt spid="7"/>
                                        </p:tgtEl>
                                      </p:cBhvr>
                                      <p:to x="100000" y="60000"/>
                                    </p:animScale>
                                    <p:animScale>
                                      <p:cBhvr>
                                        <p:cTn id="14" dur="145" decel="50000">
                                          <p:stCondLst>
                                            <p:cond delay="592"/>
                                          </p:stCondLst>
                                        </p:cTn>
                                        <p:tgtEl>
                                          <p:spTgt spid="7"/>
                                        </p:tgtEl>
                                      </p:cBhvr>
                                      <p:to x="100000" y="100000"/>
                                    </p:animScale>
                                    <p:animScale>
                                      <p:cBhvr>
                                        <p:cTn id="15" dur="23">
                                          <p:stCondLst>
                                            <p:cond delay="1148"/>
                                          </p:stCondLst>
                                        </p:cTn>
                                        <p:tgtEl>
                                          <p:spTgt spid="7"/>
                                        </p:tgtEl>
                                      </p:cBhvr>
                                      <p:to x="100000" y="80000"/>
                                    </p:animScale>
                                    <p:animScale>
                                      <p:cBhvr>
                                        <p:cTn id="16" dur="145" decel="50000">
                                          <p:stCondLst>
                                            <p:cond delay="1171"/>
                                          </p:stCondLst>
                                        </p:cTn>
                                        <p:tgtEl>
                                          <p:spTgt spid="7"/>
                                        </p:tgtEl>
                                      </p:cBhvr>
                                      <p:to x="100000" y="100000"/>
                                    </p:animScale>
                                    <p:animScale>
                                      <p:cBhvr>
                                        <p:cTn id="17" dur="23">
                                          <p:stCondLst>
                                            <p:cond delay="1437"/>
                                          </p:stCondLst>
                                        </p:cTn>
                                        <p:tgtEl>
                                          <p:spTgt spid="7"/>
                                        </p:tgtEl>
                                      </p:cBhvr>
                                      <p:to x="100000" y="90000"/>
                                    </p:animScale>
                                    <p:animScale>
                                      <p:cBhvr>
                                        <p:cTn id="18" dur="145" decel="50000">
                                          <p:stCondLst>
                                            <p:cond delay="1460"/>
                                          </p:stCondLst>
                                        </p:cTn>
                                        <p:tgtEl>
                                          <p:spTgt spid="7"/>
                                        </p:tgtEl>
                                      </p:cBhvr>
                                      <p:to x="100000" y="100000"/>
                                    </p:animScale>
                                    <p:animScale>
                                      <p:cBhvr>
                                        <p:cTn id="19" dur="23">
                                          <p:stCondLst>
                                            <p:cond delay="1582"/>
                                          </p:stCondLst>
                                        </p:cTn>
                                        <p:tgtEl>
                                          <p:spTgt spid="7"/>
                                        </p:tgtEl>
                                      </p:cBhvr>
                                      <p:to x="100000" y="95000"/>
                                    </p:animScale>
                                    <p:animScale>
                                      <p:cBhvr>
                                        <p:cTn id="20" dur="145" decel="50000">
                                          <p:stCondLst>
                                            <p:cond delay="1605"/>
                                          </p:stCondLst>
                                        </p:cTn>
                                        <p:tgtEl>
                                          <p:spTgt spid="7"/>
                                        </p:tgtEl>
                                      </p:cBhvr>
                                      <p:to x="100000" y="100000"/>
                                    </p:animScale>
                                  </p:childTnLst>
                                </p:cTn>
                              </p:par>
                            </p:childTnLst>
                          </p:cTn>
                        </p:par>
                        <p:par>
                          <p:cTn id="21" fill="hold">
                            <p:stCondLst>
                              <p:cond delay="2500"/>
                            </p:stCondLst>
                            <p:childTnLst>
                              <p:par>
                                <p:cTn id="22" presetID="22" presetClass="entr" presetSubtype="4" fill="hold"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wipe(down)">
                                      <p:cBhvr>
                                        <p:cTn id="24" dur="1000"/>
                                        <p:tgtEl>
                                          <p:spTgt spid="11"/>
                                        </p:tgtEl>
                                      </p:cBhvr>
                                    </p:animEffect>
                                  </p:childTnLst>
                                </p:cTn>
                              </p:par>
                              <p:par>
                                <p:cTn id="25" presetID="22" presetClass="entr" presetSubtype="4"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down)">
                                      <p:cBhvr>
                                        <p:cTn id="27" dur="1000"/>
                                        <p:tgtEl>
                                          <p:spTgt spid="9"/>
                                        </p:tgtEl>
                                      </p:cBhvr>
                                    </p:animEffect>
                                  </p:childTnLst>
                                </p:cTn>
                              </p:par>
                              <p:par>
                                <p:cTn id="28" presetID="14" presetClass="entr" presetSubtype="10" fill="hold" grpId="0" nodeType="withEffect">
                                  <p:stCondLst>
                                    <p:cond delay="0"/>
                                  </p:stCondLst>
                                  <p:childTnLst>
                                    <p:set>
                                      <p:cBhvr>
                                        <p:cTn id="29" dur="1" fill="hold">
                                          <p:stCondLst>
                                            <p:cond delay="0"/>
                                          </p:stCondLst>
                                        </p:cTn>
                                        <p:tgtEl>
                                          <p:spTgt spid="25"/>
                                        </p:tgtEl>
                                        <p:attrNameLst>
                                          <p:attrName>style.visibility</p:attrName>
                                        </p:attrNameLst>
                                      </p:cBhvr>
                                      <p:to>
                                        <p:strVal val="visible"/>
                                      </p:to>
                                    </p:set>
                                    <p:animEffect transition="in" filter="randombar(horizontal)">
                                      <p:cBhvr>
                                        <p:cTn id="30" dur="1000"/>
                                        <p:tgtEl>
                                          <p:spTgt spid="25"/>
                                        </p:tgtEl>
                                      </p:cBhvr>
                                    </p:animEffect>
                                  </p:childTnLst>
                                </p:cTn>
                              </p:par>
                            </p:childTnLst>
                          </p:cTn>
                        </p:par>
                        <p:par>
                          <p:cTn id="31" fill="hold">
                            <p:stCondLst>
                              <p:cond delay="3500"/>
                            </p:stCondLst>
                            <p:childTnLst>
                              <p:par>
                                <p:cTn id="32" presetID="16" presetClass="entr" presetSubtype="21" fill="hold" grpId="0" nodeType="afterEffect">
                                  <p:stCondLst>
                                    <p:cond delay="250"/>
                                  </p:stCondLst>
                                  <p:childTnLst>
                                    <p:set>
                                      <p:cBhvr>
                                        <p:cTn id="33" dur="1" fill="hold">
                                          <p:stCondLst>
                                            <p:cond delay="0"/>
                                          </p:stCondLst>
                                        </p:cTn>
                                        <p:tgtEl>
                                          <p:spTgt spid="20"/>
                                        </p:tgtEl>
                                        <p:attrNameLst>
                                          <p:attrName>style.visibility</p:attrName>
                                        </p:attrNameLst>
                                      </p:cBhvr>
                                      <p:to>
                                        <p:strVal val="visible"/>
                                      </p:to>
                                    </p:set>
                                    <p:animEffect transition="in" filter="barn(inVertical)">
                                      <p:cBhvr>
                                        <p:cTn id="34" dur="750"/>
                                        <p:tgtEl>
                                          <p:spTgt spid="20"/>
                                        </p:tgtEl>
                                      </p:cBhvr>
                                    </p:animEffect>
                                  </p:childTnLst>
                                </p:cTn>
                              </p:par>
                            </p:childTnLst>
                          </p:cTn>
                        </p:par>
                        <p:par>
                          <p:cTn id="35" fill="hold">
                            <p:stCondLst>
                              <p:cond delay="4500"/>
                            </p:stCondLst>
                            <p:childTnLst>
                              <p:par>
                                <p:cTn id="36" presetID="22" presetClass="entr" presetSubtype="4" fill="hold" nodeType="afterEffect">
                                  <p:stCondLst>
                                    <p:cond delay="250"/>
                                  </p:stCondLst>
                                  <p:childTnLst>
                                    <p:set>
                                      <p:cBhvr>
                                        <p:cTn id="37" dur="1" fill="hold">
                                          <p:stCondLst>
                                            <p:cond delay="0"/>
                                          </p:stCondLst>
                                        </p:cTn>
                                        <p:tgtEl>
                                          <p:spTgt spid="17"/>
                                        </p:tgtEl>
                                        <p:attrNameLst>
                                          <p:attrName>style.visibility</p:attrName>
                                        </p:attrNameLst>
                                      </p:cBhvr>
                                      <p:to>
                                        <p:strVal val="visible"/>
                                      </p:to>
                                    </p:set>
                                    <p:animEffect transition="in" filter="wipe(down)">
                                      <p:cBhvr>
                                        <p:cTn id="38" dur="1000"/>
                                        <p:tgtEl>
                                          <p:spTgt spid="17"/>
                                        </p:tgtEl>
                                      </p:cBhvr>
                                    </p:animEffect>
                                  </p:childTnLst>
                                </p:cTn>
                              </p:par>
                              <p:par>
                                <p:cTn id="39" presetID="14" presetClass="entr" presetSubtype="10" fill="hold" grpId="0" nodeType="withEffect">
                                  <p:stCondLst>
                                    <p:cond delay="0"/>
                                  </p:stCondLst>
                                  <p:childTnLst>
                                    <p:set>
                                      <p:cBhvr>
                                        <p:cTn id="40" dur="1" fill="hold">
                                          <p:stCondLst>
                                            <p:cond delay="0"/>
                                          </p:stCondLst>
                                        </p:cTn>
                                        <p:tgtEl>
                                          <p:spTgt spid="26"/>
                                        </p:tgtEl>
                                        <p:attrNameLst>
                                          <p:attrName>style.visibility</p:attrName>
                                        </p:attrNameLst>
                                      </p:cBhvr>
                                      <p:to>
                                        <p:strVal val="visible"/>
                                      </p:to>
                                    </p:set>
                                    <p:animEffect transition="in" filter="randombar(horizontal)">
                                      <p:cBhvr>
                                        <p:cTn id="41" dur="1000"/>
                                        <p:tgtEl>
                                          <p:spTgt spid="26"/>
                                        </p:tgtEl>
                                      </p:cBhvr>
                                    </p:animEffect>
                                  </p:childTnLst>
                                </p:cTn>
                              </p:par>
                            </p:childTnLst>
                          </p:cTn>
                        </p:par>
                        <p:par>
                          <p:cTn id="42" fill="hold">
                            <p:stCondLst>
                              <p:cond delay="5750"/>
                            </p:stCondLst>
                            <p:childTnLst>
                              <p:par>
                                <p:cTn id="43" presetID="16" presetClass="entr" presetSubtype="21" fill="hold" grpId="0" nodeType="afterEffect">
                                  <p:stCondLst>
                                    <p:cond delay="250"/>
                                  </p:stCondLst>
                                  <p:childTnLst>
                                    <p:set>
                                      <p:cBhvr>
                                        <p:cTn id="44" dur="1" fill="hold">
                                          <p:stCondLst>
                                            <p:cond delay="0"/>
                                          </p:stCondLst>
                                        </p:cTn>
                                        <p:tgtEl>
                                          <p:spTgt spid="21"/>
                                        </p:tgtEl>
                                        <p:attrNameLst>
                                          <p:attrName>style.visibility</p:attrName>
                                        </p:attrNameLst>
                                      </p:cBhvr>
                                      <p:to>
                                        <p:strVal val="visible"/>
                                      </p:to>
                                    </p:set>
                                    <p:animEffect transition="in" filter="barn(inVertical)">
                                      <p:cBhvr>
                                        <p:cTn id="45" dur="750"/>
                                        <p:tgtEl>
                                          <p:spTgt spid="21"/>
                                        </p:tgtEl>
                                      </p:cBhvr>
                                    </p:animEffect>
                                  </p:childTnLst>
                                </p:cTn>
                              </p:par>
                            </p:childTnLst>
                          </p:cTn>
                        </p:par>
                        <p:par>
                          <p:cTn id="46" fill="hold">
                            <p:stCondLst>
                              <p:cond delay="6750"/>
                            </p:stCondLst>
                            <p:childTnLst>
                              <p:par>
                                <p:cTn id="47" presetID="22" presetClass="entr" presetSubtype="4" fill="hold" nodeType="afterEffect">
                                  <p:stCondLst>
                                    <p:cond delay="250"/>
                                  </p:stCondLst>
                                  <p:childTnLst>
                                    <p:set>
                                      <p:cBhvr>
                                        <p:cTn id="48" dur="1" fill="hold">
                                          <p:stCondLst>
                                            <p:cond delay="0"/>
                                          </p:stCondLst>
                                        </p:cTn>
                                        <p:tgtEl>
                                          <p:spTgt spid="19"/>
                                        </p:tgtEl>
                                        <p:attrNameLst>
                                          <p:attrName>style.visibility</p:attrName>
                                        </p:attrNameLst>
                                      </p:cBhvr>
                                      <p:to>
                                        <p:strVal val="visible"/>
                                      </p:to>
                                    </p:set>
                                    <p:animEffect transition="in" filter="wipe(down)">
                                      <p:cBhvr>
                                        <p:cTn id="49" dur="1000"/>
                                        <p:tgtEl>
                                          <p:spTgt spid="19"/>
                                        </p:tgtEl>
                                      </p:cBhvr>
                                    </p:animEffect>
                                  </p:childTnLst>
                                </p:cTn>
                              </p:par>
                              <p:par>
                                <p:cTn id="50" presetID="14" presetClass="entr" presetSubtype="10" fill="hold" grpId="0" nodeType="with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randombar(horizontal)">
                                      <p:cBhvr>
                                        <p:cTn id="52" dur="1000"/>
                                        <p:tgtEl>
                                          <p:spTgt spid="28"/>
                                        </p:tgtEl>
                                      </p:cBhvr>
                                    </p:animEffect>
                                  </p:childTnLst>
                                </p:cTn>
                              </p:par>
                            </p:childTnLst>
                          </p:cTn>
                        </p:par>
                        <p:par>
                          <p:cTn id="53" fill="hold">
                            <p:stCondLst>
                              <p:cond delay="8000"/>
                            </p:stCondLst>
                            <p:childTnLst>
                              <p:par>
                                <p:cTn id="54" presetID="16" presetClass="entr" presetSubtype="21" fill="hold" grpId="0" nodeType="afterEffect">
                                  <p:stCondLst>
                                    <p:cond delay="250"/>
                                  </p:stCondLst>
                                  <p:childTnLst>
                                    <p:set>
                                      <p:cBhvr>
                                        <p:cTn id="55" dur="1" fill="hold">
                                          <p:stCondLst>
                                            <p:cond delay="0"/>
                                          </p:stCondLst>
                                        </p:cTn>
                                        <p:tgtEl>
                                          <p:spTgt spid="22"/>
                                        </p:tgtEl>
                                        <p:attrNameLst>
                                          <p:attrName>style.visibility</p:attrName>
                                        </p:attrNameLst>
                                      </p:cBhvr>
                                      <p:to>
                                        <p:strVal val="visible"/>
                                      </p:to>
                                    </p:set>
                                    <p:animEffect transition="in" filter="barn(inVertical)">
                                      <p:cBhvr>
                                        <p:cTn id="56" dur="750"/>
                                        <p:tgtEl>
                                          <p:spTgt spid="22"/>
                                        </p:tgtEl>
                                      </p:cBhvr>
                                    </p:animEffect>
                                  </p:childTnLst>
                                </p:cTn>
                              </p:par>
                            </p:childTnLst>
                          </p:cTn>
                        </p:par>
                        <p:par>
                          <p:cTn id="57" fill="hold">
                            <p:stCondLst>
                              <p:cond delay="9000"/>
                            </p:stCondLst>
                            <p:childTnLst>
                              <p:par>
                                <p:cTn id="58" presetID="22" presetClass="entr" presetSubtype="4" fill="hold" nodeType="afterEffect">
                                  <p:stCondLst>
                                    <p:cond delay="250"/>
                                  </p:stCondLst>
                                  <p:childTnLst>
                                    <p:set>
                                      <p:cBhvr>
                                        <p:cTn id="59" dur="1" fill="hold">
                                          <p:stCondLst>
                                            <p:cond delay="0"/>
                                          </p:stCondLst>
                                        </p:cTn>
                                        <p:tgtEl>
                                          <p:spTgt spid="13"/>
                                        </p:tgtEl>
                                        <p:attrNameLst>
                                          <p:attrName>style.visibility</p:attrName>
                                        </p:attrNameLst>
                                      </p:cBhvr>
                                      <p:to>
                                        <p:strVal val="visible"/>
                                      </p:to>
                                    </p:set>
                                    <p:animEffect transition="in" filter="wipe(down)">
                                      <p:cBhvr>
                                        <p:cTn id="60" dur="1500"/>
                                        <p:tgtEl>
                                          <p:spTgt spid="13"/>
                                        </p:tgtEl>
                                      </p:cBhvr>
                                    </p:animEffect>
                                  </p:childTnLst>
                                </p:cTn>
                              </p:par>
                              <p:par>
                                <p:cTn id="61" presetID="14" presetClass="entr" presetSubtype="10" fill="hold" grpId="0" nodeType="withEffect">
                                  <p:stCondLst>
                                    <p:cond delay="0"/>
                                  </p:stCondLst>
                                  <p:childTnLst>
                                    <p:set>
                                      <p:cBhvr>
                                        <p:cTn id="62" dur="1" fill="hold">
                                          <p:stCondLst>
                                            <p:cond delay="0"/>
                                          </p:stCondLst>
                                        </p:cTn>
                                        <p:tgtEl>
                                          <p:spTgt spid="29"/>
                                        </p:tgtEl>
                                        <p:attrNameLst>
                                          <p:attrName>style.visibility</p:attrName>
                                        </p:attrNameLst>
                                      </p:cBhvr>
                                      <p:to>
                                        <p:strVal val="visible"/>
                                      </p:to>
                                    </p:set>
                                    <p:animEffect transition="in" filter="randombar(horizontal)">
                                      <p:cBhvr>
                                        <p:cTn id="63" dur="1000"/>
                                        <p:tgtEl>
                                          <p:spTgt spid="29"/>
                                        </p:tgtEl>
                                      </p:cBhvr>
                                    </p:animEffect>
                                  </p:childTnLst>
                                </p:cTn>
                              </p:par>
                            </p:childTnLst>
                          </p:cTn>
                        </p:par>
                        <p:par>
                          <p:cTn id="64" fill="hold">
                            <p:stCondLst>
                              <p:cond delay="10750"/>
                            </p:stCondLst>
                            <p:childTnLst>
                              <p:par>
                                <p:cTn id="65" presetID="16" presetClass="entr" presetSubtype="21" fill="hold" grpId="0" nodeType="afterEffect">
                                  <p:stCondLst>
                                    <p:cond delay="250"/>
                                  </p:stCondLst>
                                  <p:childTnLst>
                                    <p:set>
                                      <p:cBhvr>
                                        <p:cTn id="66" dur="1" fill="hold">
                                          <p:stCondLst>
                                            <p:cond delay="0"/>
                                          </p:stCondLst>
                                        </p:cTn>
                                        <p:tgtEl>
                                          <p:spTgt spid="23"/>
                                        </p:tgtEl>
                                        <p:attrNameLst>
                                          <p:attrName>style.visibility</p:attrName>
                                        </p:attrNameLst>
                                      </p:cBhvr>
                                      <p:to>
                                        <p:strVal val="visible"/>
                                      </p:to>
                                    </p:set>
                                    <p:animEffect transition="in" filter="barn(inVertical)">
                                      <p:cBhvr>
                                        <p:cTn id="67" dur="750"/>
                                        <p:tgtEl>
                                          <p:spTgt spid="23"/>
                                        </p:tgtEl>
                                      </p:cBhvr>
                                    </p:animEffect>
                                  </p:childTnLst>
                                </p:cTn>
                              </p:par>
                            </p:childTnLst>
                          </p:cTn>
                        </p:par>
                        <p:par>
                          <p:cTn id="68" fill="hold">
                            <p:stCondLst>
                              <p:cond delay="11750"/>
                            </p:stCondLst>
                            <p:childTnLst>
                              <p:par>
                                <p:cTn id="69" presetID="22" presetClass="entr" presetSubtype="4" fill="hold" nodeType="afterEffect">
                                  <p:stCondLst>
                                    <p:cond delay="250"/>
                                  </p:stCondLst>
                                  <p:childTnLst>
                                    <p:set>
                                      <p:cBhvr>
                                        <p:cTn id="70" dur="1" fill="hold">
                                          <p:stCondLst>
                                            <p:cond delay="0"/>
                                          </p:stCondLst>
                                        </p:cTn>
                                        <p:tgtEl>
                                          <p:spTgt spid="15"/>
                                        </p:tgtEl>
                                        <p:attrNameLst>
                                          <p:attrName>style.visibility</p:attrName>
                                        </p:attrNameLst>
                                      </p:cBhvr>
                                      <p:to>
                                        <p:strVal val="visible"/>
                                      </p:to>
                                    </p:set>
                                    <p:animEffect transition="in" filter="wipe(down)">
                                      <p:cBhvr>
                                        <p:cTn id="71" dur="1250"/>
                                        <p:tgtEl>
                                          <p:spTgt spid="15"/>
                                        </p:tgtEl>
                                      </p:cBhvr>
                                    </p:animEffect>
                                  </p:childTnLst>
                                </p:cTn>
                              </p:par>
                              <p:par>
                                <p:cTn id="72" presetID="14" presetClass="entr" presetSubtype="10" fill="hold" grpId="0" nodeType="withEffect">
                                  <p:stCondLst>
                                    <p:cond delay="0"/>
                                  </p:stCondLst>
                                  <p:childTnLst>
                                    <p:set>
                                      <p:cBhvr>
                                        <p:cTn id="73" dur="1" fill="hold">
                                          <p:stCondLst>
                                            <p:cond delay="0"/>
                                          </p:stCondLst>
                                        </p:cTn>
                                        <p:tgtEl>
                                          <p:spTgt spid="30"/>
                                        </p:tgtEl>
                                        <p:attrNameLst>
                                          <p:attrName>style.visibility</p:attrName>
                                        </p:attrNameLst>
                                      </p:cBhvr>
                                      <p:to>
                                        <p:strVal val="visible"/>
                                      </p:to>
                                    </p:set>
                                    <p:animEffect transition="in" filter="randombar(horizontal)">
                                      <p:cBhvr>
                                        <p:cTn id="74" dur="750"/>
                                        <p:tgtEl>
                                          <p:spTgt spid="30"/>
                                        </p:tgtEl>
                                      </p:cBhvr>
                                    </p:animEffect>
                                  </p:childTnLst>
                                </p:cTn>
                              </p:par>
                            </p:childTnLst>
                          </p:cTn>
                        </p:par>
                        <p:par>
                          <p:cTn id="75" fill="hold">
                            <p:stCondLst>
                              <p:cond delay="13250"/>
                            </p:stCondLst>
                            <p:childTnLst>
                              <p:par>
                                <p:cTn id="76" presetID="22" presetClass="entr" presetSubtype="4" fill="hold" grpId="0" nodeType="afterEffect">
                                  <p:stCondLst>
                                    <p:cond delay="0"/>
                                  </p:stCondLst>
                                  <p:childTnLst>
                                    <p:set>
                                      <p:cBhvr>
                                        <p:cTn id="77" dur="1" fill="hold">
                                          <p:stCondLst>
                                            <p:cond delay="0"/>
                                          </p:stCondLst>
                                        </p:cTn>
                                        <p:tgtEl>
                                          <p:spTgt spid="39"/>
                                        </p:tgtEl>
                                        <p:attrNameLst>
                                          <p:attrName>style.visibility</p:attrName>
                                        </p:attrNameLst>
                                      </p:cBhvr>
                                      <p:to>
                                        <p:strVal val="visible"/>
                                      </p:to>
                                    </p:set>
                                    <p:animEffect transition="in" filter="wipe(down)">
                                      <p:cBhvr>
                                        <p:cTn id="78" dur="1000"/>
                                        <p:tgtEl>
                                          <p:spTgt spid="39"/>
                                        </p:tgtEl>
                                      </p:cBhvr>
                                    </p:animEffect>
                                  </p:childTnLst>
                                </p:cTn>
                              </p:par>
                              <p:par>
                                <p:cTn id="79" presetID="22" presetClass="entr" presetSubtype="4" fill="hold" grpId="0" nodeType="withEffect">
                                  <p:stCondLst>
                                    <p:cond delay="0"/>
                                  </p:stCondLst>
                                  <p:childTnLst>
                                    <p:set>
                                      <p:cBhvr>
                                        <p:cTn id="80" dur="1" fill="hold">
                                          <p:stCondLst>
                                            <p:cond delay="0"/>
                                          </p:stCondLst>
                                        </p:cTn>
                                        <p:tgtEl>
                                          <p:spTgt spid="36"/>
                                        </p:tgtEl>
                                        <p:attrNameLst>
                                          <p:attrName>style.visibility</p:attrName>
                                        </p:attrNameLst>
                                      </p:cBhvr>
                                      <p:to>
                                        <p:strVal val="visible"/>
                                      </p:to>
                                    </p:set>
                                    <p:animEffect transition="in" filter="wipe(down)">
                                      <p:cBhvr>
                                        <p:cTn id="81" dur="750"/>
                                        <p:tgtEl>
                                          <p:spTgt spid="36"/>
                                        </p:tgtEl>
                                      </p:cBhvr>
                                    </p:animEffect>
                                  </p:childTnLst>
                                </p:cTn>
                              </p:par>
                            </p:childTnLst>
                          </p:cTn>
                        </p:par>
                        <p:par>
                          <p:cTn id="82" fill="hold">
                            <p:stCondLst>
                              <p:cond delay="14250"/>
                            </p:stCondLst>
                            <p:childTnLst>
                              <p:par>
                                <p:cTn id="83" presetID="14" presetClass="entr" presetSubtype="10" fill="hold" grpId="0" nodeType="afterEffect">
                                  <p:stCondLst>
                                    <p:cond delay="250"/>
                                  </p:stCondLst>
                                  <p:childTnLst>
                                    <p:set>
                                      <p:cBhvr>
                                        <p:cTn id="84" dur="1" fill="hold">
                                          <p:stCondLst>
                                            <p:cond delay="0"/>
                                          </p:stCondLst>
                                        </p:cTn>
                                        <p:tgtEl>
                                          <p:spTgt spid="48"/>
                                        </p:tgtEl>
                                        <p:attrNameLst>
                                          <p:attrName>style.visibility</p:attrName>
                                        </p:attrNameLst>
                                      </p:cBhvr>
                                      <p:to>
                                        <p:strVal val="visible"/>
                                      </p:to>
                                    </p:set>
                                    <p:animEffect transition="in" filter="randombar(horizontal)">
                                      <p:cBhvr>
                                        <p:cTn id="85" dur="750"/>
                                        <p:tgtEl>
                                          <p:spTgt spid="48"/>
                                        </p:tgtEl>
                                      </p:cBhvr>
                                    </p:animEffect>
                                  </p:childTnLst>
                                </p:cTn>
                              </p:par>
                            </p:childTnLst>
                          </p:cTn>
                        </p:par>
                        <p:par>
                          <p:cTn id="86" fill="hold">
                            <p:stCondLst>
                              <p:cond delay="15250"/>
                            </p:stCondLst>
                            <p:childTnLst>
                              <p:par>
                                <p:cTn id="87" presetID="22" presetClass="entr" presetSubtype="4" fill="hold" grpId="0" nodeType="afterEffect">
                                  <p:stCondLst>
                                    <p:cond delay="0"/>
                                  </p:stCondLst>
                                  <p:childTnLst>
                                    <p:set>
                                      <p:cBhvr>
                                        <p:cTn id="88" dur="1" fill="hold">
                                          <p:stCondLst>
                                            <p:cond delay="0"/>
                                          </p:stCondLst>
                                        </p:cTn>
                                        <p:tgtEl>
                                          <p:spTgt spid="45"/>
                                        </p:tgtEl>
                                        <p:attrNameLst>
                                          <p:attrName>style.visibility</p:attrName>
                                        </p:attrNameLst>
                                      </p:cBhvr>
                                      <p:to>
                                        <p:strVal val="visible"/>
                                      </p:to>
                                    </p:set>
                                    <p:animEffect transition="in" filter="wipe(down)">
                                      <p:cBhvr>
                                        <p:cTn id="89" dur="750"/>
                                        <p:tgtEl>
                                          <p:spTgt spid="45"/>
                                        </p:tgtEl>
                                      </p:cBhvr>
                                    </p:animEffect>
                                  </p:childTnLst>
                                </p:cTn>
                              </p:par>
                              <p:par>
                                <p:cTn id="90" presetID="22" presetClass="entr" presetSubtype="4" fill="hold" grpId="0" nodeType="withEffect">
                                  <p:stCondLst>
                                    <p:cond delay="250"/>
                                  </p:stCondLst>
                                  <p:childTnLst>
                                    <p:set>
                                      <p:cBhvr>
                                        <p:cTn id="91" dur="1" fill="hold">
                                          <p:stCondLst>
                                            <p:cond delay="0"/>
                                          </p:stCondLst>
                                        </p:cTn>
                                        <p:tgtEl>
                                          <p:spTgt spid="44"/>
                                        </p:tgtEl>
                                        <p:attrNameLst>
                                          <p:attrName>style.visibility</p:attrName>
                                        </p:attrNameLst>
                                      </p:cBhvr>
                                      <p:to>
                                        <p:strVal val="visible"/>
                                      </p:to>
                                    </p:set>
                                    <p:animEffect transition="in" filter="wipe(down)">
                                      <p:cBhvr>
                                        <p:cTn id="92" dur="750"/>
                                        <p:tgtEl>
                                          <p:spTgt spid="44"/>
                                        </p:tgtEl>
                                      </p:cBhvr>
                                    </p:animEffect>
                                  </p:childTnLst>
                                </p:cTn>
                              </p:par>
                              <p:par>
                                <p:cTn id="93" presetID="14" presetClass="entr" presetSubtype="10" fill="hold" grpId="0" nodeType="withEffect">
                                  <p:stCondLst>
                                    <p:cond delay="250"/>
                                  </p:stCondLst>
                                  <p:childTnLst>
                                    <p:set>
                                      <p:cBhvr>
                                        <p:cTn id="94" dur="1" fill="hold">
                                          <p:stCondLst>
                                            <p:cond delay="0"/>
                                          </p:stCondLst>
                                        </p:cTn>
                                        <p:tgtEl>
                                          <p:spTgt spid="2"/>
                                        </p:tgtEl>
                                        <p:attrNameLst>
                                          <p:attrName>style.visibility</p:attrName>
                                        </p:attrNameLst>
                                      </p:cBhvr>
                                      <p:to>
                                        <p:strVal val="visible"/>
                                      </p:to>
                                    </p:set>
                                    <p:animEffect transition="in" filter="randombar(horizontal)">
                                      <p:cBhvr>
                                        <p:cTn id="95" dur="750"/>
                                        <p:tgtEl>
                                          <p:spTgt spid="2"/>
                                        </p:tgtEl>
                                      </p:cBhvr>
                                    </p:animEffect>
                                  </p:childTnLst>
                                </p:cTn>
                              </p:par>
                            </p:childTnLst>
                          </p:cTn>
                        </p:par>
                        <p:par>
                          <p:cTn id="96" fill="hold">
                            <p:stCondLst>
                              <p:cond delay="16250"/>
                            </p:stCondLst>
                            <p:childTnLst>
                              <p:par>
                                <p:cTn id="97" presetID="22" presetClass="entr" presetSubtype="4" fill="hold" grpId="0" nodeType="afterEffect">
                                  <p:stCondLst>
                                    <p:cond delay="0"/>
                                  </p:stCondLst>
                                  <p:childTnLst>
                                    <p:set>
                                      <p:cBhvr>
                                        <p:cTn id="98" dur="1" fill="hold">
                                          <p:stCondLst>
                                            <p:cond delay="0"/>
                                          </p:stCondLst>
                                        </p:cTn>
                                        <p:tgtEl>
                                          <p:spTgt spid="46"/>
                                        </p:tgtEl>
                                        <p:attrNameLst>
                                          <p:attrName>style.visibility</p:attrName>
                                        </p:attrNameLst>
                                      </p:cBhvr>
                                      <p:to>
                                        <p:strVal val="visible"/>
                                      </p:to>
                                    </p:set>
                                    <p:animEffect transition="in" filter="wipe(down)">
                                      <p:cBhvr>
                                        <p:cTn id="99" dur="500"/>
                                        <p:tgtEl>
                                          <p:spTgt spid="46"/>
                                        </p:tgtEl>
                                      </p:cBhvr>
                                    </p:animEffect>
                                  </p:childTnLst>
                                </p:cTn>
                              </p:par>
                            </p:childTnLst>
                          </p:cTn>
                        </p:par>
                        <p:par>
                          <p:cTn id="100" fill="hold">
                            <p:stCondLst>
                              <p:cond delay="16750"/>
                            </p:stCondLst>
                            <p:childTnLst>
                              <p:par>
                                <p:cTn id="101" presetID="22" presetClass="entr" presetSubtype="4" fill="hold" nodeType="afterEffect">
                                  <p:stCondLst>
                                    <p:cond delay="0"/>
                                  </p:stCondLst>
                                  <p:childTnLst>
                                    <p:set>
                                      <p:cBhvr>
                                        <p:cTn id="102" dur="1" fill="hold">
                                          <p:stCondLst>
                                            <p:cond delay="0"/>
                                          </p:stCondLst>
                                        </p:cTn>
                                        <p:tgtEl>
                                          <p:spTgt spid="43"/>
                                        </p:tgtEl>
                                        <p:attrNameLst>
                                          <p:attrName>style.visibility</p:attrName>
                                        </p:attrNameLst>
                                      </p:cBhvr>
                                      <p:to>
                                        <p:strVal val="visible"/>
                                      </p:to>
                                    </p:set>
                                    <p:animEffect transition="in" filter="wipe(down)">
                                      <p:cBhvr>
                                        <p:cTn id="103" dur="1250"/>
                                        <p:tgtEl>
                                          <p:spTgt spid="43"/>
                                        </p:tgtEl>
                                      </p:cBhvr>
                                    </p:animEffect>
                                  </p:childTnLst>
                                </p:cTn>
                              </p:par>
                              <p:par>
                                <p:cTn id="104" presetID="14" presetClass="entr" presetSubtype="10" fill="hold" grpId="0" nodeType="withEffect">
                                  <p:stCondLst>
                                    <p:cond delay="250"/>
                                  </p:stCondLst>
                                  <p:childTnLst>
                                    <p:set>
                                      <p:cBhvr>
                                        <p:cTn id="105" dur="1" fill="hold">
                                          <p:stCondLst>
                                            <p:cond delay="0"/>
                                          </p:stCondLst>
                                        </p:cTn>
                                        <p:tgtEl>
                                          <p:spTgt spid="3"/>
                                        </p:tgtEl>
                                        <p:attrNameLst>
                                          <p:attrName>style.visibility</p:attrName>
                                        </p:attrNameLst>
                                      </p:cBhvr>
                                      <p:to>
                                        <p:strVal val="visible"/>
                                      </p:to>
                                    </p:set>
                                    <p:animEffect transition="in" filter="randombar(horizontal)">
                                      <p:cBhvr>
                                        <p:cTn id="106" dur="500"/>
                                        <p:tgtEl>
                                          <p:spTgt spid="3"/>
                                        </p:tgtEl>
                                      </p:cBhvr>
                                    </p:animEffect>
                                  </p:childTnLst>
                                </p:cTn>
                              </p:par>
                              <p:par>
                                <p:cTn id="107" presetID="14" presetClass="entr" presetSubtype="10" fill="hold" grpId="0" nodeType="withEffect">
                                  <p:stCondLst>
                                    <p:cond delay="0"/>
                                  </p:stCondLst>
                                  <p:childTnLst>
                                    <p:set>
                                      <p:cBhvr>
                                        <p:cTn id="108" dur="1" fill="hold">
                                          <p:stCondLst>
                                            <p:cond delay="0"/>
                                          </p:stCondLst>
                                        </p:cTn>
                                        <p:tgtEl>
                                          <p:spTgt spid="47"/>
                                        </p:tgtEl>
                                        <p:attrNameLst>
                                          <p:attrName>style.visibility</p:attrName>
                                        </p:attrNameLst>
                                      </p:cBhvr>
                                      <p:to>
                                        <p:strVal val="visible"/>
                                      </p:to>
                                    </p:set>
                                    <p:animEffect transition="in" filter="randombar(horizontal)">
                                      <p:cBhvr>
                                        <p:cTn id="109" dur="10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animBg="1"/>
      <p:bldP spid="25" grpId="0"/>
      <p:bldP spid="26" grpId="0"/>
      <p:bldP spid="28" grpId="0"/>
      <p:bldP spid="29" grpId="0"/>
      <p:bldP spid="30" grpId="0"/>
      <p:bldP spid="36" grpId="0" animBg="1"/>
      <p:bldP spid="39" grpId="0" animBg="1"/>
      <p:bldP spid="44" grpId="0" animBg="1"/>
      <p:bldP spid="45" grpId="0" animBg="1"/>
      <p:bldP spid="46" grpId="0" animBg="1"/>
      <p:bldP spid="47" grpId="0"/>
      <p:bldP spid="48" grpId="0"/>
      <p:bldP spid="2" grpId="0"/>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phic 3" descr="Bus">
            <a:extLst>
              <a:ext uri="{FF2B5EF4-FFF2-40B4-BE49-F238E27FC236}">
                <a16:creationId xmlns:a16="http://schemas.microsoft.com/office/drawing/2014/main" id="{FF38E376-C291-CC26-BDEE-07C29F52746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10481167" y="2356217"/>
            <a:ext cx="1271460" cy="1174575"/>
          </a:xfrm>
          <a:prstGeom prst="rect">
            <a:avLst/>
          </a:prstGeom>
        </p:spPr>
      </p:pic>
      <p:pic>
        <p:nvPicPr>
          <p:cNvPr id="5" name="Graphic 4" descr="Chevron arrows">
            <a:extLst>
              <a:ext uri="{FF2B5EF4-FFF2-40B4-BE49-F238E27FC236}">
                <a16:creationId xmlns:a16="http://schemas.microsoft.com/office/drawing/2014/main" id="{BA2814DD-7CCA-F2F6-52BB-B3615EB1398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9597308" y="2683298"/>
            <a:ext cx="914400" cy="539931"/>
          </a:xfrm>
          <a:prstGeom prst="rect">
            <a:avLst/>
          </a:prstGeom>
        </p:spPr>
      </p:pic>
      <p:pic>
        <p:nvPicPr>
          <p:cNvPr id="7" name="Graphic 6" descr="Tablet">
            <a:extLst>
              <a:ext uri="{FF2B5EF4-FFF2-40B4-BE49-F238E27FC236}">
                <a16:creationId xmlns:a16="http://schemas.microsoft.com/office/drawing/2014/main" id="{97888C39-BAE1-950D-F894-2D7C2A70999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6865" y="2487355"/>
            <a:ext cx="1310640" cy="914400"/>
          </a:xfrm>
          <a:prstGeom prst="rect">
            <a:avLst/>
          </a:prstGeom>
        </p:spPr>
      </p:pic>
      <p:pic>
        <p:nvPicPr>
          <p:cNvPr id="8" name="Graphic 7" descr="Gears">
            <a:extLst>
              <a:ext uri="{FF2B5EF4-FFF2-40B4-BE49-F238E27FC236}">
                <a16:creationId xmlns:a16="http://schemas.microsoft.com/office/drawing/2014/main" id="{9DEA5185-2D60-6D31-9C03-4116D06AF036}"/>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54475" y="2571087"/>
            <a:ext cx="1092926" cy="914400"/>
          </a:xfrm>
          <a:prstGeom prst="rect">
            <a:avLst/>
          </a:prstGeom>
        </p:spPr>
      </p:pic>
      <p:pic>
        <p:nvPicPr>
          <p:cNvPr id="9" name="Graphic 8" descr="Gears">
            <a:extLst>
              <a:ext uri="{FF2B5EF4-FFF2-40B4-BE49-F238E27FC236}">
                <a16:creationId xmlns:a16="http://schemas.microsoft.com/office/drawing/2014/main" id="{CE074C10-2C06-FCA9-559A-BDC74B37702E}"/>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886544" y="2536173"/>
            <a:ext cx="1018905" cy="914400"/>
          </a:xfrm>
          <a:prstGeom prst="rect">
            <a:avLst/>
          </a:prstGeom>
        </p:spPr>
      </p:pic>
      <p:sp>
        <p:nvSpPr>
          <p:cNvPr id="10" name="Arrow: Striped Right 9">
            <a:extLst>
              <a:ext uri="{FF2B5EF4-FFF2-40B4-BE49-F238E27FC236}">
                <a16:creationId xmlns:a16="http://schemas.microsoft.com/office/drawing/2014/main" id="{80F27652-A8CA-2705-9F3B-E0EFAE899DB3}"/>
              </a:ext>
            </a:extLst>
          </p:cNvPr>
          <p:cNvSpPr/>
          <p:nvPr/>
        </p:nvSpPr>
        <p:spPr>
          <a:xfrm flipH="1">
            <a:off x="7947412" y="2840226"/>
            <a:ext cx="483326" cy="249282"/>
          </a:xfrm>
          <a:prstGeom prst="striped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11" name="Arrow: Striped Right 10">
            <a:extLst>
              <a:ext uri="{FF2B5EF4-FFF2-40B4-BE49-F238E27FC236}">
                <a16:creationId xmlns:a16="http://schemas.microsoft.com/office/drawing/2014/main" id="{82BC63FA-15E6-0DF9-6808-5C9AE1E9BAD6}"/>
              </a:ext>
            </a:extLst>
          </p:cNvPr>
          <p:cNvSpPr/>
          <p:nvPr/>
        </p:nvSpPr>
        <p:spPr>
          <a:xfrm flipH="1">
            <a:off x="6065608" y="2840226"/>
            <a:ext cx="522516" cy="249282"/>
          </a:xfrm>
          <a:prstGeom prst="striped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12" name="Arrow: Striped Right 11">
            <a:extLst>
              <a:ext uri="{FF2B5EF4-FFF2-40B4-BE49-F238E27FC236}">
                <a16:creationId xmlns:a16="http://schemas.microsoft.com/office/drawing/2014/main" id="{D0F7C965-6BE4-9C8D-47CF-D38980B8EDDE}"/>
              </a:ext>
            </a:extLst>
          </p:cNvPr>
          <p:cNvSpPr/>
          <p:nvPr/>
        </p:nvSpPr>
        <p:spPr>
          <a:xfrm flipH="1">
            <a:off x="4173742" y="2818863"/>
            <a:ext cx="522516" cy="249282"/>
          </a:xfrm>
          <a:prstGeom prst="striped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13" name="Arrow: Striped Right 12">
            <a:extLst>
              <a:ext uri="{FF2B5EF4-FFF2-40B4-BE49-F238E27FC236}">
                <a16:creationId xmlns:a16="http://schemas.microsoft.com/office/drawing/2014/main" id="{2124FF4A-A04E-27FE-85C6-39257CDA99BA}"/>
              </a:ext>
            </a:extLst>
          </p:cNvPr>
          <p:cNvSpPr/>
          <p:nvPr/>
        </p:nvSpPr>
        <p:spPr>
          <a:xfrm flipH="1">
            <a:off x="1861595" y="2840226"/>
            <a:ext cx="522516" cy="249282"/>
          </a:xfrm>
          <a:prstGeom prst="striped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14" name="Rectangle 13">
            <a:extLst>
              <a:ext uri="{FF2B5EF4-FFF2-40B4-BE49-F238E27FC236}">
                <a16:creationId xmlns:a16="http://schemas.microsoft.com/office/drawing/2014/main" id="{BC00D01B-5278-062C-1EF7-A78C6BD63031}"/>
              </a:ext>
            </a:extLst>
          </p:cNvPr>
          <p:cNvSpPr/>
          <p:nvPr/>
        </p:nvSpPr>
        <p:spPr>
          <a:xfrm>
            <a:off x="386865" y="714425"/>
            <a:ext cx="3706849" cy="646331"/>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600" b="1" dirty="0">
                <a:ln/>
                <a:solidFill>
                  <a:schemeClr val="accent4"/>
                </a:solidFill>
              </a:rPr>
              <a:t>Passenger’s OUT</a:t>
            </a:r>
          </a:p>
        </p:txBody>
      </p:sp>
      <p:sp>
        <p:nvSpPr>
          <p:cNvPr id="15" name="TextBox 14">
            <a:extLst>
              <a:ext uri="{FF2B5EF4-FFF2-40B4-BE49-F238E27FC236}">
                <a16:creationId xmlns:a16="http://schemas.microsoft.com/office/drawing/2014/main" id="{E27878FC-FA04-3322-2552-34A5CD27A8A6}"/>
              </a:ext>
            </a:extLst>
          </p:cNvPr>
          <p:cNvSpPr txBox="1"/>
          <p:nvPr/>
        </p:nvSpPr>
        <p:spPr>
          <a:xfrm flipH="1">
            <a:off x="6687132" y="3568816"/>
            <a:ext cx="1027611" cy="369332"/>
          </a:xfrm>
          <a:prstGeom prst="rect">
            <a:avLst/>
          </a:prstGeom>
          <a:noFill/>
        </p:spPr>
        <p:txBody>
          <a:bodyPr wrap="square" rtlCol="0">
            <a:spAutoFit/>
          </a:bodyPr>
          <a:lstStyle/>
          <a:p>
            <a:r>
              <a:rPr lang="en-IN" dirty="0"/>
              <a:t>Sensor2</a:t>
            </a:r>
          </a:p>
        </p:txBody>
      </p:sp>
      <p:sp>
        <p:nvSpPr>
          <p:cNvPr id="16" name="TextBox 15">
            <a:extLst>
              <a:ext uri="{FF2B5EF4-FFF2-40B4-BE49-F238E27FC236}">
                <a16:creationId xmlns:a16="http://schemas.microsoft.com/office/drawing/2014/main" id="{638CAE25-B4AA-B4DE-324F-A1AE9CA081FC}"/>
              </a:ext>
            </a:extLst>
          </p:cNvPr>
          <p:cNvSpPr txBox="1"/>
          <p:nvPr/>
        </p:nvSpPr>
        <p:spPr>
          <a:xfrm>
            <a:off x="4886544" y="3559708"/>
            <a:ext cx="1045714" cy="378440"/>
          </a:xfrm>
          <a:prstGeom prst="rect">
            <a:avLst/>
          </a:prstGeom>
          <a:noFill/>
        </p:spPr>
        <p:txBody>
          <a:bodyPr wrap="square">
            <a:spAutoFit/>
          </a:bodyPr>
          <a:lstStyle/>
          <a:p>
            <a:r>
              <a:rPr lang="en-IN" dirty="0"/>
              <a:t>Sensor1</a:t>
            </a:r>
          </a:p>
        </p:txBody>
      </p:sp>
      <p:sp>
        <p:nvSpPr>
          <p:cNvPr id="17" name="TextBox 16">
            <a:extLst>
              <a:ext uri="{FF2B5EF4-FFF2-40B4-BE49-F238E27FC236}">
                <a16:creationId xmlns:a16="http://schemas.microsoft.com/office/drawing/2014/main" id="{3674D37F-E9DB-21D2-67B6-C3ECC0B08609}"/>
              </a:ext>
            </a:extLst>
          </p:cNvPr>
          <p:cNvSpPr txBox="1"/>
          <p:nvPr/>
        </p:nvSpPr>
        <p:spPr>
          <a:xfrm>
            <a:off x="2746258" y="3610881"/>
            <a:ext cx="1418135" cy="923330"/>
          </a:xfrm>
          <a:prstGeom prst="rect">
            <a:avLst/>
          </a:prstGeom>
          <a:noFill/>
        </p:spPr>
        <p:txBody>
          <a:bodyPr wrap="square" rtlCol="0">
            <a:spAutoFit/>
          </a:bodyPr>
          <a:lstStyle/>
          <a:p>
            <a:r>
              <a:rPr lang="en-IN" dirty="0"/>
              <a:t>Decrease in count of Passengers </a:t>
            </a:r>
          </a:p>
        </p:txBody>
      </p:sp>
      <p:sp>
        <p:nvSpPr>
          <p:cNvPr id="18" name="TextBox 17">
            <a:extLst>
              <a:ext uri="{FF2B5EF4-FFF2-40B4-BE49-F238E27FC236}">
                <a16:creationId xmlns:a16="http://schemas.microsoft.com/office/drawing/2014/main" id="{B41D8936-5E17-6AD6-AE38-D54282F943DA}"/>
              </a:ext>
            </a:extLst>
          </p:cNvPr>
          <p:cNvSpPr txBox="1"/>
          <p:nvPr/>
        </p:nvSpPr>
        <p:spPr>
          <a:xfrm>
            <a:off x="452704" y="3306106"/>
            <a:ext cx="1194176" cy="646331"/>
          </a:xfrm>
          <a:prstGeom prst="rect">
            <a:avLst/>
          </a:prstGeom>
          <a:noFill/>
        </p:spPr>
        <p:txBody>
          <a:bodyPr wrap="square" rtlCol="0">
            <a:spAutoFit/>
          </a:bodyPr>
          <a:lstStyle/>
          <a:p>
            <a:r>
              <a:rPr lang="en-IN" dirty="0"/>
              <a:t>Display the count</a:t>
            </a:r>
          </a:p>
        </p:txBody>
      </p:sp>
      <p:sp>
        <p:nvSpPr>
          <p:cNvPr id="19" name="Arrow: Bent-Up 18">
            <a:extLst>
              <a:ext uri="{FF2B5EF4-FFF2-40B4-BE49-F238E27FC236}">
                <a16:creationId xmlns:a16="http://schemas.microsoft.com/office/drawing/2014/main" id="{5660D834-937A-4717-C6C9-76BCA3776DB8}"/>
              </a:ext>
            </a:extLst>
          </p:cNvPr>
          <p:cNvSpPr/>
          <p:nvPr/>
        </p:nvSpPr>
        <p:spPr>
          <a:xfrm rot="10800000" flipH="1">
            <a:off x="988104" y="1997028"/>
            <a:ext cx="8206747" cy="495106"/>
          </a:xfrm>
          <a:prstGeom prst="bentUpArrow">
            <a:avLst>
              <a:gd name="adj1" fmla="val 25000"/>
              <a:gd name="adj2" fmla="val 32529"/>
              <a:gd name="adj3" fmla="val 25000"/>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0" name="Rectangle 19">
            <a:extLst>
              <a:ext uri="{FF2B5EF4-FFF2-40B4-BE49-F238E27FC236}">
                <a16:creationId xmlns:a16="http://schemas.microsoft.com/office/drawing/2014/main" id="{80C430A7-2ADF-E896-3273-AB6F7FEF9B78}"/>
              </a:ext>
            </a:extLst>
          </p:cNvPr>
          <p:cNvSpPr/>
          <p:nvPr/>
        </p:nvSpPr>
        <p:spPr>
          <a:xfrm>
            <a:off x="988104" y="2094202"/>
            <a:ext cx="114862" cy="441971"/>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21" name="Graphic 20" descr="Tablet">
            <a:extLst>
              <a:ext uri="{FF2B5EF4-FFF2-40B4-BE49-F238E27FC236}">
                <a16:creationId xmlns:a16="http://schemas.microsoft.com/office/drawing/2014/main" id="{F2848179-34CA-1223-BC69-586E9E182E2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6865" y="4809197"/>
            <a:ext cx="1310640" cy="1039860"/>
          </a:xfrm>
          <a:prstGeom prst="rect">
            <a:avLst/>
          </a:prstGeom>
        </p:spPr>
      </p:pic>
      <p:sp>
        <p:nvSpPr>
          <p:cNvPr id="22" name="Arrow: Right 21">
            <a:extLst>
              <a:ext uri="{FF2B5EF4-FFF2-40B4-BE49-F238E27FC236}">
                <a16:creationId xmlns:a16="http://schemas.microsoft.com/office/drawing/2014/main" id="{417AF52E-CEF0-DF79-B772-90D2A86C8A3B}"/>
              </a:ext>
            </a:extLst>
          </p:cNvPr>
          <p:cNvSpPr/>
          <p:nvPr/>
        </p:nvSpPr>
        <p:spPr>
          <a:xfrm flipH="1">
            <a:off x="1732161" y="5208443"/>
            <a:ext cx="5548853" cy="317449"/>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3" name="Rectangle 22">
            <a:extLst>
              <a:ext uri="{FF2B5EF4-FFF2-40B4-BE49-F238E27FC236}">
                <a16:creationId xmlns:a16="http://schemas.microsoft.com/office/drawing/2014/main" id="{F22FE6C9-8367-9962-C82E-7208DB33512D}"/>
              </a:ext>
            </a:extLst>
          </p:cNvPr>
          <p:cNvSpPr/>
          <p:nvPr/>
        </p:nvSpPr>
        <p:spPr>
          <a:xfrm>
            <a:off x="7120860" y="4105354"/>
            <a:ext cx="160154" cy="119564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4" name="Rectangle 23">
            <a:extLst>
              <a:ext uri="{FF2B5EF4-FFF2-40B4-BE49-F238E27FC236}">
                <a16:creationId xmlns:a16="http://schemas.microsoft.com/office/drawing/2014/main" id="{C5124F9B-79DA-65DD-E10C-B94E45B57941}"/>
              </a:ext>
            </a:extLst>
          </p:cNvPr>
          <p:cNvSpPr/>
          <p:nvPr/>
        </p:nvSpPr>
        <p:spPr>
          <a:xfrm>
            <a:off x="5208016" y="4105354"/>
            <a:ext cx="160154" cy="119564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5" name="TextBox 24">
            <a:extLst>
              <a:ext uri="{FF2B5EF4-FFF2-40B4-BE49-F238E27FC236}">
                <a16:creationId xmlns:a16="http://schemas.microsoft.com/office/drawing/2014/main" id="{F4CF9BF3-EEE7-B6A6-A7AF-4E073F9FD610}"/>
              </a:ext>
            </a:extLst>
          </p:cNvPr>
          <p:cNvSpPr txBox="1"/>
          <p:nvPr/>
        </p:nvSpPr>
        <p:spPr>
          <a:xfrm>
            <a:off x="4229614" y="1589049"/>
            <a:ext cx="3051400" cy="923330"/>
          </a:xfrm>
          <a:prstGeom prst="rect">
            <a:avLst/>
          </a:prstGeom>
          <a:noFill/>
        </p:spPr>
        <p:txBody>
          <a:bodyPr wrap="square" rtlCol="0">
            <a:spAutoFit/>
          </a:bodyPr>
          <a:lstStyle/>
          <a:p>
            <a:r>
              <a:rPr lang="en-IN" dirty="0"/>
              <a:t>Repeat the process if</a:t>
            </a:r>
          </a:p>
          <a:p>
            <a:endParaRPr lang="en-IN" dirty="0"/>
          </a:p>
          <a:p>
            <a:r>
              <a:rPr lang="en-IN" dirty="0"/>
              <a:t>passengers leaving the bus.</a:t>
            </a:r>
          </a:p>
        </p:txBody>
      </p:sp>
      <p:pic>
        <p:nvPicPr>
          <p:cNvPr id="26" name="Graphic 25" descr="Walk">
            <a:extLst>
              <a:ext uri="{FF2B5EF4-FFF2-40B4-BE49-F238E27FC236}">
                <a16:creationId xmlns:a16="http://schemas.microsoft.com/office/drawing/2014/main" id="{2B230FA1-BFB0-C62E-3993-CDDC6FDD75B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flipH="1">
            <a:off x="8498215" y="2486272"/>
            <a:ext cx="1149535" cy="1143000"/>
          </a:xfrm>
          <a:prstGeom prst="rect">
            <a:avLst/>
          </a:prstGeom>
        </p:spPr>
      </p:pic>
      <p:pic>
        <p:nvPicPr>
          <p:cNvPr id="33" name="Picture 32">
            <a:extLst>
              <a:ext uri="{FF2B5EF4-FFF2-40B4-BE49-F238E27FC236}">
                <a16:creationId xmlns:a16="http://schemas.microsoft.com/office/drawing/2014/main" id="{331F8E6A-3203-6614-52B7-3BD72E9B91C8}"/>
              </a:ext>
            </a:extLst>
          </p:cNvPr>
          <p:cNvPicPr>
            <a:picLocks noChangeAspect="1"/>
          </p:cNvPicPr>
          <p:nvPr/>
        </p:nvPicPr>
        <p:blipFill>
          <a:blip r:embed="rId12"/>
          <a:stretch>
            <a:fillRect/>
          </a:stretch>
        </p:blipFill>
        <p:spPr>
          <a:xfrm>
            <a:off x="2695012" y="2504469"/>
            <a:ext cx="1098606" cy="920797"/>
          </a:xfrm>
          <a:prstGeom prst="rect">
            <a:avLst/>
          </a:prstGeom>
        </p:spPr>
      </p:pic>
      <p:sp>
        <p:nvSpPr>
          <p:cNvPr id="35" name="TextBox 34">
            <a:extLst>
              <a:ext uri="{FF2B5EF4-FFF2-40B4-BE49-F238E27FC236}">
                <a16:creationId xmlns:a16="http://schemas.microsoft.com/office/drawing/2014/main" id="{51045B94-5608-997C-7C84-4BEE915A7883}"/>
              </a:ext>
            </a:extLst>
          </p:cNvPr>
          <p:cNvSpPr txBox="1"/>
          <p:nvPr/>
        </p:nvSpPr>
        <p:spPr>
          <a:xfrm>
            <a:off x="452705" y="5811029"/>
            <a:ext cx="2142450" cy="646331"/>
          </a:xfrm>
          <a:prstGeom prst="rect">
            <a:avLst/>
          </a:prstGeom>
          <a:noFill/>
        </p:spPr>
        <p:txBody>
          <a:bodyPr wrap="square">
            <a:spAutoFit/>
          </a:bodyPr>
          <a:lstStyle/>
          <a:p>
            <a:r>
              <a:rPr lang="en-IN" dirty="0"/>
              <a:t>Display the Previous count</a:t>
            </a:r>
          </a:p>
        </p:txBody>
      </p:sp>
      <p:sp>
        <p:nvSpPr>
          <p:cNvPr id="36" name="TextBox 35">
            <a:extLst>
              <a:ext uri="{FF2B5EF4-FFF2-40B4-BE49-F238E27FC236}">
                <a16:creationId xmlns:a16="http://schemas.microsoft.com/office/drawing/2014/main" id="{CD3349CA-C468-0540-C4F1-326661AB384D}"/>
              </a:ext>
            </a:extLst>
          </p:cNvPr>
          <p:cNvSpPr txBox="1"/>
          <p:nvPr/>
        </p:nvSpPr>
        <p:spPr>
          <a:xfrm>
            <a:off x="9033704" y="3717855"/>
            <a:ext cx="2647406" cy="923330"/>
          </a:xfrm>
          <a:prstGeom prst="rect">
            <a:avLst/>
          </a:prstGeom>
          <a:noFill/>
        </p:spPr>
        <p:txBody>
          <a:bodyPr wrap="square" rtlCol="0">
            <a:spAutoFit/>
          </a:bodyPr>
          <a:lstStyle/>
          <a:p>
            <a:r>
              <a:rPr lang="en-IN" dirty="0"/>
              <a:t>Passenger’s leaving the Bus.</a:t>
            </a:r>
          </a:p>
          <a:p>
            <a:r>
              <a:rPr lang="en-IN" dirty="0"/>
              <a:t>Initially count&gt;0</a:t>
            </a:r>
          </a:p>
        </p:txBody>
      </p:sp>
      <p:sp>
        <p:nvSpPr>
          <p:cNvPr id="27" name="TextBox 26">
            <a:extLst>
              <a:ext uri="{FF2B5EF4-FFF2-40B4-BE49-F238E27FC236}">
                <a16:creationId xmlns:a16="http://schemas.microsoft.com/office/drawing/2014/main" id="{F8BE14F3-5D49-6EF8-0780-9AABB297A568}"/>
              </a:ext>
            </a:extLst>
          </p:cNvPr>
          <p:cNvSpPr txBox="1"/>
          <p:nvPr/>
        </p:nvSpPr>
        <p:spPr>
          <a:xfrm>
            <a:off x="7281014" y="4518510"/>
            <a:ext cx="935904" cy="369332"/>
          </a:xfrm>
          <a:prstGeom prst="rect">
            <a:avLst/>
          </a:prstGeom>
          <a:noFill/>
        </p:spPr>
        <p:txBody>
          <a:bodyPr wrap="square">
            <a:spAutoFit/>
          </a:bodyPr>
          <a:lstStyle/>
          <a:p>
            <a:r>
              <a:rPr lang="en-IN" dirty="0"/>
              <a:t>Failed</a:t>
            </a:r>
          </a:p>
        </p:txBody>
      </p:sp>
      <p:sp>
        <p:nvSpPr>
          <p:cNvPr id="28" name="TextBox 27">
            <a:extLst>
              <a:ext uri="{FF2B5EF4-FFF2-40B4-BE49-F238E27FC236}">
                <a16:creationId xmlns:a16="http://schemas.microsoft.com/office/drawing/2014/main" id="{0C42C474-38BE-62D3-5013-13D355FF0908}"/>
              </a:ext>
            </a:extLst>
          </p:cNvPr>
          <p:cNvSpPr txBox="1"/>
          <p:nvPr/>
        </p:nvSpPr>
        <p:spPr>
          <a:xfrm>
            <a:off x="5368170" y="4518510"/>
            <a:ext cx="935904" cy="369332"/>
          </a:xfrm>
          <a:prstGeom prst="rect">
            <a:avLst/>
          </a:prstGeom>
          <a:noFill/>
        </p:spPr>
        <p:txBody>
          <a:bodyPr wrap="square">
            <a:spAutoFit/>
          </a:bodyPr>
          <a:lstStyle/>
          <a:p>
            <a:r>
              <a:rPr lang="en-IN" dirty="0"/>
              <a:t>Failed</a:t>
            </a:r>
          </a:p>
        </p:txBody>
      </p:sp>
    </p:spTree>
    <p:extLst>
      <p:ext uri="{BB962C8B-B14F-4D97-AF65-F5344CB8AC3E}">
        <p14:creationId xmlns:p14="http://schemas.microsoft.com/office/powerpoint/2010/main" val="336764268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1000"/>
                                        <p:tgtEl>
                                          <p:spTgt spid="4"/>
                                        </p:tgtEl>
                                      </p:cBhvr>
                                    </p:animEffect>
                                  </p:childTnLst>
                                </p:cTn>
                              </p:par>
                            </p:childTnLst>
                          </p:cTn>
                        </p:par>
                        <p:par>
                          <p:cTn id="8" fill="hold">
                            <p:stCondLst>
                              <p:cond delay="1000"/>
                            </p:stCondLst>
                            <p:childTnLst>
                              <p:par>
                                <p:cTn id="9" presetID="22" presetClass="entr" presetSubtype="4"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down)">
                                      <p:cBhvr>
                                        <p:cTn id="11" dur="1000"/>
                                        <p:tgtEl>
                                          <p:spTgt spid="5"/>
                                        </p:tgtEl>
                                      </p:cBhvr>
                                    </p:animEffect>
                                  </p:childTnLst>
                                </p:cTn>
                              </p:par>
                              <p:par>
                                <p:cTn id="12" presetID="14" presetClass="entr" presetSubtype="10" fill="hold" grpId="0" nodeType="withEffect">
                                  <p:stCondLst>
                                    <p:cond delay="0"/>
                                  </p:stCondLst>
                                  <p:childTnLst>
                                    <p:set>
                                      <p:cBhvr>
                                        <p:cTn id="13" dur="1" fill="hold">
                                          <p:stCondLst>
                                            <p:cond delay="0"/>
                                          </p:stCondLst>
                                        </p:cTn>
                                        <p:tgtEl>
                                          <p:spTgt spid="36"/>
                                        </p:tgtEl>
                                        <p:attrNameLst>
                                          <p:attrName>style.visibility</p:attrName>
                                        </p:attrNameLst>
                                      </p:cBhvr>
                                      <p:to>
                                        <p:strVal val="visible"/>
                                      </p:to>
                                    </p:set>
                                    <p:animEffect transition="in" filter="randombar(horizontal)">
                                      <p:cBhvr>
                                        <p:cTn id="14" dur="1000"/>
                                        <p:tgtEl>
                                          <p:spTgt spid="36"/>
                                        </p:tgtEl>
                                      </p:cBhvr>
                                    </p:animEffect>
                                  </p:childTnLst>
                                </p:cTn>
                              </p:par>
                            </p:childTnLst>
                          </p:cTn>
                        </p:par>
                        <p:par>
                          <p:cTn id="15" fill="hold">
                            <p:stCondLst>
                              <p:cond delay="2000"/>
                            </p:stCondLst>
                            <p:childTnLst>
                              <p:par>
                                <p:cTn id="16" presetID="26" presetClass="entr" presetSubtype="0" fill="hold" nodeType="afterEffect">
                                  <p:stCondLst>
                                    <p:cond delay="250"/>
                                  </p:stCondLst>
                                  <p:childTnLst>
                                    <p:set>
                                      <p:cBhvr>
                                        <p:cTn id="17" dur="1" fill="hold">
                                          <p:stCondLst>
                                            <p:cond delay="0"/>
                                          </p:stCondLst>
                                        </p:cTn>
                                        <p:tgtEl>
                                          <p:spTgt spid="26"/>
                                        </p:tgtEl>
                                        <p:attrNameLst>
                                          <p:attrName>style.visibility</p:attrName>
                                        </p:attrNameLst>
                                      </p:cBhvr>
                                      <p:to>
                                        <p:strVal val="visible"/>
                                      </p:to>
                                    </p:set>
                                    <p:animEffect transition="in" filter="wipe(down)">
                                      <p:cBhvr>
                                        <p:cTn id="18" dur="580">
                                          <p:stCondLst>
                                            <p:cond delay="0"/>
                                          </p:stCondLst>
                                        </p:cTn>
                                        <p:tgtEl>
                                          <p:spTgt spid="26"/>
                                        </p:tgtEl>
                                      </p:cBhvr>
                                    </p:animEffect>
                                    <p:anim calcmode="lin" valueType="num">
                                      <p:cBhvr>
                                        <p:cTn id="19" dur="1822" tmFilter="0,0; 0.14,0.36; 0.43,0.73; 0.71,0.91; 1.0,1.0">
                                          <p:stCondLst>
                                            <p:cond delay="0"/>
                                          </p:stCondLst>
                                        </p:cTn>
                                        <p:tgtEl>
                                          <p:spTgt spid="26"/>
                                        </p:tgtEl>
                                        <p:attrNameLst>
                                          <p:attrName>ppt_x</p:attrName>
                                        </p:attrNameLst>
                                      </p:cBhvr>
                                      <p:tavLst>
                                        <p:tav tm="0">
                                          <p:val>
                                            <p:strVal val="#ppt_x-0.25"/>
                                          </p:val>
                                        </p:tav>
                                        <p:tav tm="100000">
                                          <p:val>
                                            <p:strVal val="#ppt_x"/>
                                          </p:val>
                                        </p:tav>
                                      </p:tavLst>
                                    </p:anim>
                                    <p:anim calcmode="lin" valueType="num">
                                      <p:cBhvr>
                                        <p:cTn id="20" dur="664" tmFilter="0.0,0.0; 0.25,0.07; 0.50,0.2; 0.75,0.467; 1.0,1.0">
                                          <p:stCondLst>
                                            <p:cond delay="0"/>
                                          </p:stCondLst>
                                        </p:cTn>
                                        <p:tgtEl>
                                          <p:spTgt spid="26"/>
                                        </p:tgtEl>
                                        <p:attrNameLst>
                                          <p:attrName>ppt_y</p:attrName>
                                        </p:attrNameLst>
                                      </p:cBhvr>
                                      <p:tavLst>
                                        <p:tav tm="0" fmla="#ppt_y-sin(pi*$)/3">
                                          <p:val>
                                            <p:fltVal val="0.5"/>
                                          </p:val>
                                        </p:tav>
                                        <p:tav tm="100000">
                                          <p:val>
                                            <p:fltVal val="1"/>
                                          </p:val>
                                        </p:tav>
                                      </p:tavLst>
                                    </p:anim>
                                    <p:anim calcmode="lin" valueType="num">
                                      <p:cBhvr>
                                        <p:cTn id="21" dur="664" tmFilter="0, 0; 0.125,0.2665; 0.25,0.4; 0.375,0.465; 0.5,0.5;  0.625,0.535; 0.75,0.6; 0.875,0.7335; 1,1">
                                          <p:stCondLst>
                                            <p:cond delay="664"/>
                                          </p:stCondLst>
                                        </p:cTn>
                                        <p:tgtEl>
                                          <p:spTgt spid="26"/>
                                        </p:tgtEl>
                                        <p:attrNameLst>
                                          <p:attrName>ppt_y</p:attrName>
                                        </p:attrNameLst>
                                      </p:cBhvr>
                                      <p:tavLst>
                                        <p:tav tm="0" fmla="#ppt_y-sin(pi*$)/9">
                                          <p:val>
                                            <p:fltVal val="0"/>
                                          </p:val>
                                        </p:tav>
                                        <p:tav tm="100000">
                                          <p:val>
                                            <p:fltVal val="1"/>
                                          </p:val>
                                        </p:tav>
                                      </p:tavLst>
                                    </p:anim>
                                    <p:anim calcmode="lin" valueType="num">
                                      <p:cBhvr>
                                        <p:cTn id="22" dur="332" tmFilter="0, 0; 0.125,0.2665; 0.25,0.4; 0.375,0.465; 0.5,0.5;  0.625,0.535; 0.75,0.6; 0.875,0.7335; 1,1">
                                          <p:stCondLst>
                                            <p:cond delay="1324"/>
                                          </p:stCondLst>
                                        </p:cTn>
                                        <p:tgtEl>
                                          <p:spTgt spid="26"/>
                                        </p:tgtEl>
                                        <p:attrNameLst>
                                          <p:attrName>ppt_y</p:attrName>
                                        </p:attrNameLst>
                                      </p:cBhvr>
                                      <p:tavLst>
                                        <p:tav tm="0" fmla="#ppt_y-sin(pi*$)/27">
                                          <p:val>
                                            <p:fltVal val="0"/>
                                          </p:val>
                                        </p:tav>
                                        <p:tav tm="100000">
                                          <p:val>
                                            <p:fltVal val="1"/>
                                          </p:val>
                                        </p:tav>
                                      </p:tavLst>
                                    </p:anim>
                                    <p:anim calcmode="lin" valueType="num">
                                      <p:cBhvr>
                                        <p:cTn id="23" dur="164" tmFilter="0, 0; 0.125,0.2665; 0.25,0.4; 0.375,0.465; 0.5,0.5;  0.625,0.535; 0.75,0.6; 0.875,0.7335; 1,1">
                                          <p:stCondLst>
                                            <p:cond delay="1656"/>
                                          </p:stCondLst>
                                        </p:cTn>
                                        <p:tgtEl>
                                          <p:spTgt spid="26"/>
                                        </p:tgtEl>
                                        <p:attrNameLst>
                                          <p:attrName>ppt_y</p:attrName>
                                        </p:attrNameLst>
                                      </p:cBhvr>
                                      <p:tavLst>
                                        <p:tav tm="0" fmla="#ppt_y-sin(pi*$)/81">
                                          <p:val>
                                            <p:fltVal val="0"/>
                                          </p:val>
                                        </p:tav>
                                        <p:tav tm="100000">
                                          <p:val>
                                            <p:fltVal val="1"/>
                                          </p:val>
                                        </p:tav>
                                      </p:tavLst>
                                    </p:anim>
                                    <p:animScale>
                                      <p:cBhvr>
                                        <p:cTn id="24" dur="26">
                                          <p:stCondLst>
                                            <p:cond delay="650"/>
                                          </p:stCondLst>
                                        </p:cTn>
                                        <p:tgtEl>
                                          <p:spTgt spid="26"/>
                                        </p:tgtEl>
                                      </p:cBhvr>
                                      <p:to x="100000" y="60000"/>
                                    </p:animScale>
                                    <p:animScale>
                                      <p:cBhvr>
                                        <p:cTn id="25" dur="166" decel="50000">
                                          <p:stCondLst>
                                            <p:cond delay="676"/>
                                          </p:stCondLst>
                                        </p:cTn>
                                        <p:tgtEl>
                                          <p:spTgt spid="26"/>
                                        </p:tgtEl>
                                      </p:cBhvr>
                                      <p:to x="100000" y="100000"/>
                                    </p:animScale>
                                    <p:animScale>
                                      <p:cBhvr>
                                        <p:cTn id="26" dur="26">
                                          <p:stCondLst>
                                            <p:cond delay="1312"/>
                                          </p:stCondLst>
                                        </p:cTn>
                                        <p:tgtEl>
                                          <p:spTgt spid="26"/>
                                        </p:tgtEl>
                                      </p:cBhvr>
                                      <p:to x="100000" y="80000"/>
                                    </p:animScale>
                                    <p:animScale>
                                      <p:cBhvr>
                                        <p:cTn id="27" dur="166" decel="50000">
                                          <p:stCondLst>
                                            <p:cond delay="1338"/>
                                          </p:stCondLst>
                                        </p:cTn>
                                        <p:tgtEl>
                                          <p:spTgt spid="26"/>
                                        </p:tgtEl>
                                      </p:cBhvr>
                                      <p:to x="100000" y="100000"/>
                                    </p:animScale>
                                    <p:animScale>
                                      <p:cBhvr>
                                        <p:cTn id="28" dur="26">
                                          <p:stCondLst>
                                            <p:cond delay="1642"/>
                                          </p:stCondLst>
                                        </p:cTn>
                                        <p:tgtEl>
                                          <p:spTgt spid="26"/>
                                        </p:tgtEl>
                                      </p:cBhvr>
                                      <p:to x="100000" y="90000"/>
                                    </p:animScale>
                                    <p:animScale>
                                      <p:cBhvr>
                                        <p:cTn id="29" dur="166" decel="50000">
                                          <p:stCondLst>
                                            <p:cond delay="1668"/>
                                          </p:stCondLst>
                                        </p:cTn>
                                        <p:tgtEl>
                                          <p:spTgt spid="26"/>
                                        </p:tgtEl>
                                      </p:cBhvr>
                                      <p:to x="100000" y="100000"/>
                                    </p:animScale>
                                    <p:animScale>
                                      <p:cBhvr>
                                        <p:cTn id="30" dur="26">
                                          <p:stCondLst>
                                            <p:cond delay="1808"/>
                                          </p:stCondLst>
                                        </p:cTn>
                                        <p:tgtEl>
                                          <p:spTgt spid="26"/>
                                        </p:tgtEl>
                                      </p:cBhvr>
                                      <p:to x="100000" y="95000"/>
                                    </p:animScale>
                                    <p:animScale>
                                      <p:cBhvr>
                                        <p:cTn id="31" dur="166" decel="50000">
                                          <p:stCondLst>
                                            <p:cond delay="1834"/>
                                          </p:stCondLst>
                                        </p:cTn>
                                        <p:tgtEl>
                                          <p:spTgt spid="26"/>
                                        </p:tgtEl>
                                      </p:cBhvr>
                                      <p:to x="100000" y="100000"/>
                                    </p:animScale>
                                  </p:childTnLst>
                                </p:cTn>
                              </p:par>
                            </p:childTnLst>
                          </p:cTn>
                        </p:par>
                        <p:par>
                          <p:cTn id="32" fill="hold">
                            <p:stCondLst>
                              <p:cond delay="4250"/>
                            </p:stCondLst>
                            <p:childTnLst>
                              <p:par>
                                <p:cTn id="33" presetID="16" presetClass="entr" presetSubtype="21" fill="hold" grpId="0" nodeType="afterEffect">
                                  <p:stCondLst>
                                    <p:cond delay="250"/>
                                  </p:stCondLst>
                                  <p:childTnLst>
                                    <p:set>
                                      <p:cBhvr>
                                        <p:cTn id="34" dur="1" fill="hold">
                                          <p:stCondLst>
                                            <p:cond delay="0"/>
                                          </p:stCondLst>
                                        </p:cTn>
                                        <p:tgtEl>
                                          <p:spTgt spid="10"/>
                                        </p:tgtEl>
                                        <p:attrNameLst>
                                          <p:attrName>style.visibility</p:attrName>
                                        </p:attrNameLst>
                                      </p:cBhvr>
                                      <p:to>
                                        <p:strVal val="visible"/>
                                      </p:to>
                                    </p:set>
                                    <p:animEffect transition="in" filter="barn(inVertical)">
                                      <p:cBhvr>
                                        <p:cTn id="35" dur="750"/>
                                        <p:tgtEl>
                                          <p:spTgt spid="10"/>
                                        </p:tgtEl>
                                      </p:cBhvr>
                                    </p:animEffect>
                                  </p:childTnLst>
                                </p:cTn>
                              </p:par>
                            </p:childTnLst>
                          </p:cTn>
                        </p:par>
                        <p:par>
                          <p:cTn id="36" fill="hold">
                            <p:stCondLst>
                              <p:cond delay="5250"/>
                            </p:stCondLst>
                            <p:childTnLst>
                              <p:par>
                                <p:cTn id="37" presetID="22" presetClass="entr" presetSubtype="4" fill="hold" nodeType="afterEffect">
                                  <p:stCondLst>
                                    <p:cond delay="250"/>
                                  </p:stCondLst>
                                  <p:childTnLst>
                                    <p:set>
                                      <p:cBhvr>
                                        <p:cTn id="38" dur="1" fill="hold">
                                          <p:stCondLst>
                                            <p:cond delay="0"/>
                                          </p:stCondLst>
                                        </p:cTn>
                                        <p:tgtEl>
                                          <p:spTgt spid="8"/>
                                        </p:tgtEl>
                                        <p:attrNameLst>
                                          <p:attrName>style.visibility</p:attrName>
                                        </p:attrNameLst>
                                      </p:cBhvr>
                                      <p:to>
                                        <p:strVal val="visible"/>
                                      </p:to>
                                    </p:set>
                                    <p:animEffect transition="in" filter="wipe(down)">
                                      <p:cBhvr>
                                        <p:cTn id="39" dur="1000"/>
                                        <p:tgtEl>
                                          <p:spTgt spid="8"/>
                                        </p:tgtEl>
                                      </p:cBhvr>
                                    </p:animEffect>
                                  </p:childTnLst>
                                </p:cTn>
                              </p:par>
                              <p:par>
                                <p:cTn id="40" presetID="14" presetClass="entr" presetSubtype="1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randombar(horizontal)">
                                      <p:cBhvr>
                                        <p:cTn id="42" dur="1000"/>
                                        <p:tgtEl>
                                          <p:spTgt spid="15"/>
                                        </p:tgtEl>
                                      </p:cBhvr>
                                    </p:animEffect>
                                  </p:childTnLst>
                                </p:cTn>
                              </p:par>
                            </p:childTnLst>
                          </p:cTn>
                        </p:par>
                        <p:par>
                          <p:cTn id="43" fill="hold">
                            <p:stCondLst>
                              <p:cond delay="6500"/>
                            </p:stCondLst>
                            <p:childTnLst>
                              <p:par>
                                <p:cTn id="44" presetID="16" presetClass="entr" presetSubtype="21" fill="hold" grpId="0" nodeType="afterEffect">
                                  <p:stCondLst>
                                    <p:cond delay="250"/>
                                  </p:stCondLst>
                                  <p:childTnLst>
                                    <p:set>
                                      <p:cBhvr>
                                        <p:cTn id="45" dur="1" fill="hold">
                                          <p:stCondLst>
                                            <p:cond delay="0"/>
                                          </p:stCondLst>
                                        </p:cTn>
                                        <p:tgtEl>
                                          <p:spTgt spid="11"/>
                                        </p:tgtEl>
                                        <p:attrNameLst>
                                          <p:attrName>style.visibility</p:attrName>
                                        </p:attrNameLst>
                                      </p:cBhvr>
                                      <p:to>
                                        <p:strVal val="visible"/>
                                      </p:to>
                                    </p:set>
                                    <p:animEffect transition="in" filter="barn(inVertical)">
                                      <p:cBhvr>
                                        <p:cTn id="46" dur="750"/>
                                        <p:tgtEl>
                                          <p:spTgt spid="11"/>
                                        </p:tgtEl>
                                      </p:cBhvr>
                                    </p:animEffect>
                                  </p:childTnLst>
                                </p:cTn>
                              </p:par>
                            </p:childTnLst>
                          </p:cTn>
                        </p:par>
                        <p:par>
                          <p:cTn id="47" fill="hold">
                            <p:stCondLst>
                              <p:cond delay="7500"/>
                            </p:stCondLst>
                            <p:childTnLst>
                              <p:par>
                                <p:cTn id="48" presetID="22" presetClass="entr" presetSubtype="4" fill="hold" nodeType="afterEffect">
                                  <p:stCondLst>
                                    <p:cond delay="250"/>
                                  </p:stCondLst>
                                  <p:childTnLst>
                                    <p:set>
                                      <p:cBhvr>
                                        <p:cTn id="49" dur="1" fill="hold">
                                          <p:stCondLst>
                                            <p:cond delay="0"/>
                                          </p:stCondLst>
                                        </p:cTn>
                                        <p:tgtEl>
                                          <p:spTgt spid="9"/>
                                        </p:tgtEl>
                                        <p:attrNameLst>
                                          <p:attrName>style.visibility</p:attrName>
                                        </p:attrNameLst>
                                      </p:cBhvr>
                                      <p:to>
                                        <p:strVal val="visible"/>
                                      </p:to>
                                    </p:set>
                                    <p:animEffect transition="in" filter="wipe(down)">
                                      <p:cBhvr>
                                        <p:cTn id="50" dur="1000"/>
                                        <p:tgtEl>
                                          <p:spTgt spid="9"/>
                                        </p:tgtEl>
                                      </p:cBhvr>
                                    </p:animEffect>
                                  </p:childTnLst>
                                </p:cTn>
                              </p:par>
                              <p:par>
                                <p:cTn id="51" presetID="14" presetClass="entr" presetSubtype="10" fill="hold" grpId="0" nodeType="with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randombar(horizontal)">
                                      <p:cBhvr>
                                        <p:cTn id="53" dur="1000"/>
                                        <p:tgtEl>
                                          <p:spTgt spid="16"/>
                                        </p:tgtEl>
                                      </p:cBhvr>
                                    </p:animEffect>
                                  </p:childTnLst>
                                </p:cTn>
                              </p:par>
                            </p:childTnLst>
                          </p:cTn>
                        </p:par>
                        <p:par>
                          <p:cTn id="54" fill="hold">
                            <p:stCondLst>
                              <p:cond delay="8750"/>
                            </p:stCondLst>
                            <p:childTnLst>
                              <p:par>
                                <p:cTn id="55" presetID="16" presetClass="entr" presetSubtype="21" fill="hold" grpId="0" nodeType="afterEffect">
                                  <p:stCondLst>
                                    <p:cond delay="250"/>
                                  </p:stCondLst>
                                  <p:childTnLst>
                                    <p:set>
                                      <p:cBhvr>
                                        <p:cTn id="56" dur="1" fill="hold">
                                          <p:stCondLst>
                                            <p:cond delay="0"/>
                                          </p:stCondLst>
                                        </p:cTn>
                                        <p:tgtEl>
                                          <p:spTgt spid="12"/>
                                        </p:tgtEl>
                                        <p:attrNameLst>
                                          <p:attrName>style.visibility</p:attrName>
                                        </p:attrNameLst>
                                      </p:cBhvr>
                                      <p:to>
                                        <p:strVal val="visible"/>
                                      </p:to>
                                    </p:set>
                                    <p:animEffect transition="in" filter="barn(inVertical)">
                                      <p:cBhvr>
                                        <p:cTn id="57" dur="750"/>
                                        <p:tgtEl>
                                          <p:spTgt spid="12"/>
                                        </p:tgtEl>
                                      </p:cBhvr>
                                    </p:animEffect>
                                  </p:childTnLst>
                                </p:cTn>
                              </p:par>
                            </p:childTnLst>
                          </p:cTn>
                        </p:par>
                        <p:par>
                          <p:cTn id="58" fill="hold">
                            <p:stCondLst>
                              <p:cond delay="9750"/>
                            </p:stCondLst>
                            <p:childTnLst>
                              <p:par>
                                <p:cTn id="59" presetID="22" presetClass="entr" presetSubtype="4" fill="hold" nodeType="afterEffect">
                                  <p:stCondLst>
                                    <p:cond delay="0"/>
                                  </p:stCondLst>
                                  <p:childTnLst>
                                    <p:set>
                                      <p:cBhvr>
                                        <p:cTn id="60" dur="1" fill="hold">
                                          <p:stCondLst>
                                            <p:cond delay="0"/>
                                          </p:stCondLst>
                                        </p:cTn>
                                        <p:tgtEl>
                                          <p:spTgt spid="33"/>
                                        </p:tgtEl>
                                        <p:attrNameLst>
                                          <p:attrName>style.visibility</p:attrName>
                                        </p:attrNameLst>
                                      </p:cBhvr>
                                      <p:to>
                                        <p:strVal val="visible"/>
                                      </p:to>
                                    </p:set>
                                    <p:animEffect transition="in" filter="wipe(down)">
                                      <p:cBhvr>
                                        <p:cTn id="61" dur="1000"/>
                                        <p:tgtEl>
                                          <p:spTgt spid="33"/>
                                        </p:tgtEl>
                                      </p:cBhvr>
                                    </p:animEffect>
                                  </p:childTnLst>
                                </p:cTn>
                              </p:par>
                              <p:par>
                                <p:cTn id="62" presetID="14" presetClass="entr" presetSubtype="10" fill="hold" grpId="0" nodeType="withEffect">
                                  <p:stCondLst>
                                    <p:cond delay="0"/>
                                  </p:stCondLst>
                                  <p:childTnLst>
                                    <p:set>
                                      <p:cBhvr>
                                        <p:cTn id="63" dur="1" fill="hold">
                                          <p:stCondLst>
                                            <p:cond delay="0"/>
                                          </p:stCondLst>
                                        </p:cTn>
                                        <p:tgtEl>
                                          <p:spTgt spid="17"/>
                                        </p:tgtEl>
                                        <p:attrNameLst>
                                          <p:attrName>style.visibility</p:attrName>
                                        </p:attrNameLst>
                                      </p:cBhvr>
                                      <p:to>
                                        <p:strVal val="visible"/>
                                      </p:to>
                                    </p:set>
                                    <p:animEffect transition="in" filter="randombar(horizontal)">
                                      <p:cBhvr>
                                        <p:cTn id="64" dur="1000"/>
                                        <p:tgtEl>
                                          <p:spTgt spid="17"/>
                                        </p:tgtEl>
                                      </p:cBhvr>
                                    </p:animEffect>
                                  </p:childTnLst>
                                </p:cTn>
                              </p:par>
                            </p:childTnLst>
                          </p:cTn>
                        </p:par>
                        <p:par>
                          <p:cTn id="65" fill="hold">
                            <p:stCondLst>
                              <p:cond delay="10750"/>
                            </p:stCondLst>
                            <p:childTnLst>
                              <p:par>
                                <p:cTn id="66" presetID="16" presetClass="entr" presetSubtype="21" fill="hold" grpId="0" nodeType="afterEffect">
                                  <p:stCondLst>
                                    <p:cond delay="250"/>
                                  </p:stCondLst>
                                  <p:childTnLst>
                                    <p:set>
                                      <p:cBhvr>
                                        <p:cTn id="67" dur="1" fill="hold">
                                          <p:stCondLst>
                                            <p:cond delay="0"/>
                                          </p:stCondLst>
                                        </p:cTn>
                                        <p:tgtEl>
                                          <p:spTgt spid="13"/>
                                        </p:tgtEl>
                                        <p:attrNameLst>
                                          <p:attrName>style.visibility</p:attrName>
                                        </p:attrNameLst>
                                      </p:cBhvr>
                                      <p:to>
                                        <p:strVal val="visible"/>
                                      </p:to>
                                    </p:set>
                                    <p:animEffect transition="in" filter="barn(inVertical)">
                                      <p:cBhvr>
                                        <p:cTn id="68" dur="750"/>
                                        <p:tgtEl>
                                          <p:spTgt spid="13"/>
                                        </p:tgtEl>
                                      </p:cBhvr>
                                    </p:animEffect>
                                  </p:childTnLst>
                                </p:cTn>
                              </p:par>
                            </p:childTnLst>
                          </p:cTn>
                        </p:par>
                        <p:par>
                          <p:cTn id="69" fill="hold">
                            <p:stCondLst>
                              <p:cond delay="11750"/>
                            </p:stCondLst>
                            <p:childTnLst>
                              <p:par>
                                <p:cTn id="70" presetID="22" presetClass="entr" presetSubtype="4" fill="hold" nodeType="afterEffect">
                                  <p:stCondLst>
                                    <p:cond delay="250"/>
                                  </p:stCondLst>
                                  <p:childTnLst>
                                    <p:set>
                                      <p:cBhvr>
                                        <p:cTn id="71" dur="1" fill="hold">
                                          <p:stCondLst>
                                            <p:cond delay="0"/>
                                          </p:stCondLst>
                                        </p:cTn>
                                        <p:tgtEl>
                                          <p:spTgt spid="7"/>
                                        </p:tgtEl>
                                        <p:attrNameLst>
                                          <p:attrName>style.visibility</p:attrName>
                                        </p:attrNameLst>
                                      </p:cBhvr>
                                      <p:to>
                                        <p:strVal val="visible"/>
                                      </p:to>
                                    </p:set>
                                    <p:animEffect transition="in" filter="wipe(down)">
                                      <p:cBhvr>
                                        <p:cTn id="72" dur="1250"/>
                                        <p:tgtEl>
                                          <p:spTgt spid="7"/>
                                        </p:tgtEl>
                                      </p:cBhvr>
                                    </p:animEffect>
                                  </p:childTnLst>
                                </p:cTn>
                              </p:par>
                              <p:par>
                                <p:cTn id="73" presetID="14" presetClass="entr" presetSubtype="10" fill="hold" grpId="0" nodeType="withEffect">
                                  <p:stCondLst>
                                    <p:cond delay="0"/>
                                  </p:stCondLst>
                                  <p:childTnLst>
                                    <p:set>
                                      <p:cBhvr>
                                        <p:cTn id="74" dur="1" fill="hold">
                                          <p:stCondLst>
                                            <p:cond delay="0"/>
                                          </p:stCondLst>
                                        </p:cTn>
                                        <p:tgtEl>
                                          <p:spTgt spid="18"/>
                                        </p:tgtEl>
                                        <p:attrNameLst>
                                          <p:attrName>style.visibility</p:attrName>
                                        </p:attrNameLst>
                                      </p:cBhvr>
                                      <p:to>
                                        <p:strVal val="visible"/>
                                      </p:to>
                                    </p:set>
                                    <p:animEffect transition="in" filter="randombar(horizontal)">
                                      <p:cBhvr>
                                        <p:cTn id="75" dur="750"/>
                                        <p:tgtEl>
                                          <p:spTgt spid="18"/>
                                        </p:tgtEl>
                                      </p:cBhvr>
                                    </p:animEffect>
                                  </p:childTnLst>
                                </p:cTn>
                              </p:par>
                            </p:childTnLst>
                          </p:cTn>
                        </p:par>
                        <p:par>
                          <p:cTn id="76" fill="hold">
                            <p:stCondLst>
                              <p:cond delay="13250"/>
                            </p:stCondLst>
                            <p:childTnLst>
                              <p:par>
                                <p:cTn id="77" presetID="22" presetClass="entr" presetSubtype="4" fill="hold" grpId="0" nodeType="afterEffect">
                                  <p:stCondLst>
                                    <p:cond delay="0"/>
                                  </p:stCondLst>
                                  <p:childTnLst>
                                    <p:set>
                                      <p:cBhvr>
                                        <p:cTn id="78" dur="1" fill="hold">
                                          <p:stCondLst>
                                            <p:cond delay="0"/>
                                          </p:stCondLst>
                                        </p:cTn>
                                        <p:tgtEl>
                                          <p:spTgt spid="20"/>
                                        </p:tgtEl>
                                        <p:attrNameLst>
                                          <p:attrName>style.visibility</p:attrName>
                                        </p:attrNameLst>
                                      </p:cBhvr>
                                      <p:to>
                                        <p:strVal val="visible"/>
                                      </p:to>
                                    </p:set>
                                    <p:animEffect transition="in" filter="wipe(down)">
                                      <p:cBhvr>
                                        <p:cTn id="79" dur="1000"/>
                                        <p:tgtEl>
                                          <p:spTgt spid="20"/>
                                        </p:tgtEl>
                                      </p:cBhvr>
                                    </p:animEffect>
                                  </p:childTnLst>
                                </p:cTn>
                              </p:par>
                              <p:par>
                                <p:cTn id="80" presetID="22" presetClass="entr" presetSubtype="4" fill="hold" grpId="0" nodeType="with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wipe(down)">
                                      <p:cBhvr>
                                        <p:cTn id="82" dur="500"/>
                                        <p:tgtEl>
                                          <p:spTgt spid="19"/>
                                        </p:tgtEl>
                                      </p:cBhvr>
                                    </p:animEffect>
                                  </p:childTnLst>
                                </p:cTn>
                              </p:par>
                            </p:childTnLst>
                          </p:cTn>
                        </p:par>
                        <p:par>
                          <p:cTn id="83" fill="hold">
                            <p:stCondLst>
                              <p:cond delay="14250"/>
                            </p:stCondLst>
                            <p:childTnLst>
                              <p:par>
                                <p:cTn id="84" presetID="14" presetClass="entr" presetSubtype="10" fill="hold" grpId="0" nodeType="afterEffect">
                                  <p:stCondLst>
                                    <p:cond delay="250"/>
                                  </p:stCondLst>
                                  <p:childTnLst>
                                    <p:set>
                                      <p:cBhvr>
                                        <p:cTn id="85" dur="1" fill="hold">
                                          <p:stCondLst>
                                            <p:cond delay="0"/>
                                          </p:stCondLst>
                                        </p:cTn>
                                        <p:tgtEl>
                                          <p:spTgt spid="25"/>
                                        </p:tgtEl>
                                        <p:attrNameLst>
                                          <p:attrName>style.visibility</p:attrName>
                                        </p:attrNameLst>
                                      </p:cBhvr>
                                      <p:to>
                                        <p:strVal val="visible"/>
                                      </p:to>
                                    </p:set>
                                    <p:animEffect transition="in" filter="randombar(horizontal)">
                                      <p:cBhvr>
                                        <p:cTn id="86" dur="750"/>
                                        <p:tgtEl>
                                          <p:spTgt spid="25"/>
                                        </p:tgtEl>
                                      </p:cBhvr>
                                    </p:animEffect>
                                  </p:childTnLst>
                                </p:cTn>
                              </p:par>
                            </p:childTnLst>
                          </p:cTn>
                        </p:par>
                        <p:par>
                          <p:cTn id="87" fill="hold">
                            <p:stCondLst>
                              <p:cond delay="15250"/>
                            </p:stCondLst>
                            <p:childTnLst>
                              <p:par>
                                <p:cTn id="88" presetID="22" presetClass="entr" presetSubtype="4" fill="hold" grpId="0" nodeType="afterEffect">
                                  <p:stCondLst>
                                    <p:cond delay="1000"/>
                                  </p:stCondLst>
                                  <p:childTnLst>
                                    <p:set>
                                      <p:cBhvr>
                                        <p:cTn id="89" dur="1" fill="hold">
                                          <p:stCondLst>
                                            <p:cond delay="0"/>
                                          </p:stCondLst>
                                        </p:cTn>
                                        <p:tgtEl>
                                          <p:spTgt spid="23"/>
                                        </p:tgtEl>
                                        <p:attrNameLst>
                                          <p:attrName>style.visibility</p:attrName>
                                        </p:attrNameLst>
                                      </p:cBhvr>
                                      <p:to>
                                        <p:strVal val="visible"/>
                                      </p:to>
                                    </p:set>
                                    <p:animEffect transition="in" filter="wipe(down)">
                                      <p:cBhvr>
                                        <p:cTn id="90" dur="750"/>
                                        <p:tgtEl>
                                          <p:spTgt spid="23"/>
                                        </p:tgtEl>
                                      </p:cBhvr>
                                    </p:animEffect>
                                  </p:childTnLst>
                                </p:cTn>
                              </p:par>
                            </p:childTnLst>
                          </p:cTn>
                        </p:par>
                        <p:par>
                          <p:cTn id="91" fill="hold">
                            <p:stCondLst>
                              <p:cond delay="17000"/>
                            </p:stCondLst>
                            <p:childTnLst>
                              <p:par>
                                <p:cTn id="92" presetID="22" presetClass="entr" presetSubtype="4" fill="hold" grpId="0" nodeType="afterEffect">
                                  <p:stCondLst>
                                    <p:cond delay="0"/>
                                  </p:stCondLst>
                                  <p:childTnLst>
                                    <p:set>
                                      <p:cBhvr>
                                        <p:cTn id="93" dur="1" fill="hold">
                                          <p:stCondLst>
                                            <p:cond delay="0"/>
                                          </p:stCondLst>
                                        </p:cTn>
                                        <p:tgtEl>
                                          <p:spTgt spid="24"/>
                                        </p:tgtEl>
                                        <p:attrNameLst>
                                          <p:attrName>style.visibility</p:attrName>
                                        </p:attrNameLst>
                                      </p:cBhvr>
                                      <p:to>
                                        <p:strVal val="visible"/>
                                      </p:to>
                                    </p:set>
                                    <p:animEffect transition="in" filter="wipe(down)">
                                      <p:cBhvr>
                                        <p:cTn id="94" dur="500"/>
                                        <p:tgtEl>
                                          <p:spTgt spid="24"/>
                                        </p:tgtEl>
                                      </p:cBhvr>
                                    </p:animEffect>
                                  </p:childTnLst>
                                </p:cTn>
                              </p:par>
                              <p:par>
                                <p:cTn id="95" presetID="22" presetClass="entr" presetSubtype="4" fill="hold" grpId="0" nodeType="withEffect">
                                  <p:stCondLst>
                                    <p:cond delay="0"/>
                                  </p:stCondLst>
                                  <p:childTnLst>
                                    <p:set>
                                      <p:cBhvr>
                                        <p:cTn id="96" dur="1" fill="hold">
                                          <p:stCondLst>
                                            <p:cond delay="0"/>
                                          </p:stCondLst>
                                        </p:cTn>
                                        <p:tgtEl>
                                          <p:spTgt spid="22"/>
                                        </p:tgtEl>
                                        <p:attrNameLst>
                                          <p:attrName>style.visibility</p:attrName>
                                        </p:attrNameLst>
                                      </p:cBhvr>
                                      <p:to>
                                        <p:strVal val="visible"/>
                                      </p:to>
                                    </p:set>
                                    <p:animEffect transition="in" filter="wipe(down)">
                                      <p:cBhvr>
                                        <p:cTn id="97" dur="750"/>
                                        <p:tgtEl>
                                          <p:spTgt spid="22"/>
                                        </p:tgtEl>
                                      </p:cBhvr>
                                    </p:animEffect>
                                  </p:childTnLst>
                                </p:cTn>
                              </p:par>
                              <p:par>
                                <p:cTn id="98" presetID="14" presetClass="entr" presetSubtype="10" fill="hold" grpId="0" nodeType="withEffect">
                                  <p:stCondLst>
                                    <p:cond delay="250"/>
                                  </p:stCondLst>
                                  <p:childTnLst>
                                    <p:set>
                                      <p:cBhvr>
                                        <p:cTn id="99" dur="1" fill="hold">
                                          <p:stCondLst>
                                            <p:cond delay="0"/>
                                          </p:stCondLst>
                                        </p:cTn>
                                        <p:tgtEl>
                                          <p:spTgt spid="27"/>
                                        </p:tgtEl>
                                        <p:attrNameLst>
                                          <p:attrName>style.visibility</p:attrName>
                                        </p:attrNameLst>
                                      </p:cBhvr>
                                      <p:to>
                                        <p:strVal val="visible"/>
                                      </p:to>
                                    </p:set>
                                    <p:animEffect transition="in" filter="randombar(horizontal)">
                                      <p:cBhvr>
                                        <p:cTn id="100" dur="500"/>
                                        <p:tgtEl>
                                          <p:spTgt spid="27"/>
                                        </p:tgtEl>
                                      </p:cBhvr>
                                    </p:animEffect>
                                  </p:childTnLst>
                                </p:cTn>
                              </p:par>
                            </p:childTnLst>
                          </p:cTn>
                        </p:par>
                        <p:par>
                          <p:cTn id="101" fill="hold">
                            <p:stCondLst>
                              <p:cond delay="17750"/>
                            </p:stCondLst>
                            <p:childTnLst>
                              <p:par>
                                <p:cTn id="102" presetID="22" presetClass="entr" presetSubtype="4" fill="hold" nodeType="afterEffect">
                                  <p:stCondLst>
                                    <p:cond delay="0"/>
                                  </p:stCondLst>
                                  <p:childTnLst>
                                    <p:set>
                                      <p:cBhvr>
                                        <p:cTn id="103" dur="1" fill="hold">
                                          <p:stCondLst>
                                            <p:cond delay="0"/>
                                          </p:stCondLst>
                                        </p:cTn>
                                        <p:tgtEl>
                                          <p:spTgt spid="21"/>
                                        </p:tgtEl>
                                        <p:attrNameLst>
                                          <p:attrName>style.visibility</p:attrName>
                                        </p:attrNameLst>
                                      </p:cBhvr>
                                      <p:to>
                                        <p:strVal val="visible"/>
                                      </p:to>
                                    </p:set>
                                    <p:animEffect transition="in" filter="wipe(down)">
                                      <p:cBhvr>
                                        <p:cTn id="104" dur="1250"/>
                                        <p:tgtEl>
                                          <p:spTgt spid="21"/>
                                        </p:tgtEl>
                                      </p:cBhvr>
                                    </p:animEffect>
                                  </p:childTnLst>
                                </p:cTn>
                              </p:par>
                              <p:par>
                                <p:cTn id="105" presetID="14" presetClass="entr" presetSubtype="10" fill="hold" grpId="0" nodeType="withEffect">
                                  <p:stCondLst>
                                    <p:cond delay="250"/>
                                  </p:stCondLst>
                                  <p:childTnLst>
                                    <p:set>
                                      <p:cBhvr>
                                        <p:cTn id="106" dur="1" fill="hold">
                                          <p:stCondLst>
                                            <p:cond delay="0"/>
                                          </p:stCondLst>
                                        </p:cTn>
                                        <p:tgtEl>
                                          <p:spTgt spid="28"/>
                                        </p:tgtEl>
                                        <p:attrNameLst>
                                          <p:attrName>style.visibility</p:attrName>
                                        </p:attrNameLst>
                                      </p:cBhvr>
                                      <p:to>
                                        <p:strVal val="visible"/>
                                      </p:to>
                                    </p:set>
                                    <p:animEffect transition="in" filter="randombar(horizontal)">
                                      <p:cBhvr>
                                        <p:cTn id="107" dur="500"/>
                                        <p:tgtEl>
                                          <p:spTgt spid="28"/>
                                        </p:tgtEl>
                                      </p:cBhvr>
                                    </p:animEffect>
                                  </p:childTnLst>
                                </p:cTn>
                              </p:par>
                              <p:par>
                                <p:cTn id="108" presetID="14" presetClass="entr" presetSubtype="10" fill="hold" grpId="0" nodeType="withEffect">
                                  <p:stCondLst>
                                    <p:cond delay="0"/>
                                  </p:stCondLst>
                                  <p:childTnLst>
                                    <p:set>
                                      <p:cBhvr>
                                        <p:cTn id="109" dur="1" fill="hold">
                                          <p:stCondLst>
                                            <p:cond delay="0"/>
                                          </p:stCondLst>
                                        </p:cTn>
                                        <p:tgtEl>
                                          <p:spTgt spid="35"/>
                                        </p:tgtEl>
                                        <p:attrNameLst>
                                          <p:attrName>style.visibility</p:attrName>
                                        </p:attrNameLst>
                                      </p:cBhvr>
                                      <p:to>
                                        <p:strVal val="visible"/>
                                      </p:to>
                                    </p:set>
                                    <p:animEffect transition="in" filter="randombar(horizontal)">
                                      <p:cBhvr>
                                        <p:cTn id="110" dur="10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5" grpId="0"/>
      <p:bldP spid="16" grpId="0"/>
      <p:bldP spid="17" grpId="0"/>
      <p:bldP spid="18" grpId="0"/>
      <p:bldP spid="19" grpId="0" animBg="1"/>
      <p:bldP spid="20" grpId="0" animBg="1"/>
      <p:bldP spid="22" grpId="0" animBg="1"/>
      <p:bldP spid="23" grpId="0" animBg="1"/>
      <p:bldP spid="24" grpId="0" animBg="1"/>
      <p:bldP spid="25" grpId="0"/>
      <p:bldP spid="35" grpId="0"/>
      <p:bldP spid="36" grpId="0"/>
      <p:bldP spid="27" grpId="0"/>
      <p:bldP spid="2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EBB6EA0-BF85-CDAF-2CD4-F61E0852D0D6}"/>
              </a:ext>
            </a:extLst>
          </p:cNvPr>
          <p:cNvSpPr txBox="1"/>
          <p:nvPr/>
        </p:nvSpPr>
        <p:spPr>
          <a:xfrm>
            <a:off x="2690948" y="85300"/>
            <a:ext cx="6810103" cy="769441"/>
          </a:xfrm>
          <a:prstGeom prst="rect">
            <a:avLst/>
          </a:prstGeom>
          <a:noFill/>
        </p:spPr>
        <p:txBody>
          <a:bodyPr wrap="square">
            <a:spAutoFit/>
          </a:bodyPr>
          <a:lstStyle/>
          <a:p>
            <a:r>
              <a:rPr lang="en-IN" sz="4400" b="1" dirty="0">
                <a:ln w="22225">
                  <a:solidFill>
                    <a:schemeClr val="accent2"/>
                  </a:solidFill>
                  <a:prstDash val="solid"/>
                </a:ln>
                <a:solidFill>
                  <a:schemeClr val="accent2">
                    <a:lumMod val="40000"/>
                    <a:lumOff val="60000"/>
                  </a:schemeClr>
                </a:solidFill>
              </a:rPr>
              <a:t>RESULTS AND DISCUSSION</a:t>
            </a:r>
          </a:p>
        </p:txBody>
      </p:sp>
      <p:sp>
        <p:nvSpPr>
          <p:cNvPr id="7" name="TextBox 6">
            <a:extLst>
              <a:ext uri="{FF2B5EF4-FFF2-40B4-BE49-F238E27FC236}">
                <a16:creationId xmlns:a16="http://schemas.microsoft.com/office/drawing/2014/main" id="{155EDEF0-ED0B-E5AC-448A-B4D89D1AECBB}"/>
              </a:ext>
            </a:extLst>
          </p:cNvPr>
          <p:cNvSpPr txBox="1"/>
          <p:nvPr/>
        </p:nvSpPr>
        <p:spPr>
          <a:xfrm>
            <a:off x="679267" y="854741"/>
            <a:ext cx="10833463" cy="1323439"/>
          </a:xfrm>
          <a:prstGeom prst="rect">
            <a:avLst/>
          </a:prstGeom>
          <a:noFill/>
        </p:spPr>
        <p:txBody>
          <a:bodyPr wrap="square">
            <a:spAutoFit/>
          </a:bodyPr>
          <a:lstStyle/>
          <a:p>
            <a:pPr algn="just"/>
            <a:r>
              <a:rPr lang="en-US" sz="2000" dirty="0"/>
              <a:t>After uploading the visitor counter code to Arduino Board, the device is ready for installation. You can use a 5V DC Adapter to Power on the Device. The device has a pair of IR Sensor module. One of the IR Sensors needs to be placed at the entrance of the bus, i.e., inside top of the bus door and outside top of the bus door.</a:t>
            </a:r>
            <a:endParaRPr lang="en-IN" sz="2000" dirty="0"/>
          </a:p>
        </p:txBody>
      </p:sp>
      <p:sp>
        <p:nvSpPr>
          <p:cNvPr id="9" name="TextBox 8">
            <a:extLst>
              <a:ext uri="{FF2B5EF4-FFF2-40B4-BE49-F238E27FC236}">
                <a16:creationId xmlns:a16="http://schemas.microsoft.com/office/drawing/2014/main" id="{17810122-A053-3D4D-0B75-7800F7FDA72B}"/>
              </a:ext>
            </a:extLst>
          </p:cNvPr>
          <p:cNvSpPr txBox="1"/>
          <p:nvPr/>
        </p:nvSpPr>
        <p:spPr>
          <a:xfrm>
            <a:off x="679267" y="2285901"/>
            <a:ext cx="4493623" cy="1323439"/>
          </a:xfrm>
          <a:prstGeom prst="rect">
            <a:avLst/>
          </a:prstGeom>
          <a:noFill/>
        </p:spPr>
        <p:txBody>
          <a:bodyPr wrap="square">
            <a:spAutoFit/>
          </a:bodyPr>
          <a:lstStyle/>
          <a:p>
            <a:pPr marL="342900" indent="-342900" algn="just">
              <a:buFont typeface="Wingdings" panose="05000000000000000000" pitchFamily="2" charset="2"/>
              <a:buChar char="Ø"/>
            </a:pPr>
            <a:r>
              <a:rPr lang="en-US" sz="2000" dirty="0"/>
              <a:t>When no passengers inside the bus, the light turns off and the OLED Display will indicate no visitors are present inside the bus.</a:t>
            </a:r>
            <a:endParaRPr lang="en-IN" sz="2000" dirty="0"/>
          </a:p>
        </p:txBody>
      </p:sp>
      <p:sp>
        <p:nvSpPr>
          <p:cNvPr id="11" name="TextBox 10">
            <a:extLst>
              <a:ext uri="{FF2B5EF4-FFF2-40B4-BE49-F238E27FC236}">
                <a16:creationId xmlns:a16="http://schemas.microsoft.com/office/drawing/2014/main" id="{B1C01F3D-9B99-6812-D311-AF01FF011AF2}"/>
              </a:ext>
            </a:extLst>
          </p:cNvPr>
          <p:cNvSpPr txBox="1"/>
          <p:nvPr/>
        </p:nvSpPr>
        <p:spPr>
          <a:xfrm>
            <a:off x="5939246" y="2285901"/>
            <a:ext cx="5573484" cy="1323439"/>
          </a:xfrm>
          <a:prstGeom prst="rect">
            <a:avLst/>
          </a:prstGeom>
          <a:noFill/>
        </p:spPr>
        <p:txBody>
          <a:bodyPr wrap="square">
            <a:spAutoFit/>
          </a:bodyPr>
          <a:lstStyle/>
          <a:p>
            <a:pPr marL="342900" indent="-342900" algn="just">
              <a:buFont typeface="Wingdings" panose="05000000000000000000" pitchFamily="2" charset="2"/>
              <a:buChar char="Ø"/>
            </a:pPr>
            <a:r>
              <a:rPr lang="en-US" sz="2000" dirty="0"/>
              <a:t>When someone makes an entry, the visitor is added and OLED Display, displays the number of incoming visitors. At this instance, the light automatically turns ON.</a:t>
            </a:r>
            <a:endParaRPr lang="en-IN" sz="2000" dirty="0"/>
          </a:p>
        </p:txBody>
      </p:sp>
      <p:pic>
        <p:nvPicPr>
          <p:cNvPr id="13" name="Picture 12">
            <a:extLst>
              <a:ext uri="{FF2B5EF4-FFF2-40B4-BE49-F238E27FC236}">
                <a16:creationId xmlns:a16="http://schemas.microsoft.com/office/drawing/2014/main" id="{C50981C1-4A16-BCB1-E981-A6E0DFB3167B}"/>
              </a:ext>
            </a:extLst>
          </p:cNvPr>
          <p:cNvPicPr>
            <a:picLocks noChangeAspect="1"/>
          </p:cNvPicPr>
          <p:nvPr/>
        </p:nvPicPr>
        <p:blipFill>
          <a:blip r:embed="rId2"/>
          <a:stretch>
            <a:fillRect/>
          </a:stretch>
        </p:blipFill>
        <p:spPr>
          <a:xfrm>
            <a:off x="679266" y="3853179"/>
            <a:ext cx="4493623" cy="2529876"/>
          </a:xfrm>
          <a:prstGeom prst="rect">
            <a:avLst/>
          </a:prstGeom>
        </p:spPr>
      </p:pic>
      <p:pic>
        <p:nvPicPr>
          <p:cNvPr id="15" name="Picture 14">
            <a:extLst>
              <a:ext uri="{FF2B5EF4-FFF2-40B4-BE49-F238E27FC236}">
                <a16:creationId xmlns:a16="http://schemas.microsoft.com/office/drawing/2014/main" id="{A75A7905-B844-D633-C583-AD2FA2A27A94}"/>
              </a:ext>
            </a:extLst>
          </p:cNvPr>
          <p:cNvPicPr>
            <a:picLocks noChangeAspect="1"/>
          </p:cNvPicPr>
          <p:nvPr/>
        </p:nvPicPr>
        <p:blipFill>
          <a:blip r:embed="rId3"/>
          <a:stretch>
            <a:fillRect/>
          </a:stretch>
        </p:blipFill>
        <p:spPr>
          <a:xfrm>
            <a:off x="6430215" y="3853178"/>
            <a:ext cx="4995431" cy="2529875"/>
          </a:xfrm>
          <a:prstGeom prst="rect">
            <a:avLst/>
          </a:prstGeom>
        </p:spPr>
      </p:pic>
    </p:spTree>
    <p:extLst>
      <p:ext uri="{BB962C8B-B14F-4D97-AF65-F5344CB8AC3E}">
        <p14:creationId xmlns:p14="http://schemas.microsoft.com/office/powerpoint/2010/main" val="3302446984"/>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p:cTn id="8" dur="1000" fill="hold"/>
                                        <p:tgtEl>
                                          <p:spTgt spid="9"/>
                                        </p:tgtEl>
                                        <p:attrNameLst>
                                          <p:attrName>ppt_x</p:attrName>
                                        </p:attrNameLst>
                                      </p:cBhvr>
                                      <p:tavLst>
                                        <p:tav tm="0">
                                          <p:val>
                                            <p:strVal val="#ppt_x"/>
                                          </p:val>
                                        </p:tav>
                                        <p:tav tm="100000">
                                          <p:val>
                                            <p:strVal val="#ppt_x"/>
                                          </p:val>
                                        </p:tav>
                                      </p:tavLst>
                                    </p:anim>
                                    <p:anim calcmode="lin" valueType="num">
                                      <p:cBhvr>
                                        <p:cTn id="9" dur="1000" fill="hold"/>
                                        <p:tgtEl>
                                          <p:spTgt spid="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1000"/>
                                        <p:tgtEl>
                                          <p:spTgt spid="13"/>
                                        </p:tgtEl>
                                      </p:cBhvr>
                                    </p:animEffect>
                                    <p:anim calcmode="lin" valueType="num">
                                      <p:cBhvr>
                                        <p:cTn id="14" dur="1000" fill="hold"/>
                                        <p:tgtEl>
                                          <p:spTgt spid="13"/>
                                        </p:tgtEl>
                                        <p:attrNameLst>
                                          <p:attrName>ppt_x</p:attrName>
                                        </p:attrNameLst>
                                      </p:cBhvr>
                                      <p:tavLst>
                                        <p:tav tm="0">
                                          <p:val>
                                            <p:strVal val="#ppt_x"/>
                                          </p:val>
                                        </p:tav>
                                        <p:tav tm="100000">
                                          <p:val>
                                            <p:strVal val="#ppt_x"/>
                                          </p:val>
                                        </p:tav>
                                      </p:tavLst>
                                    </p:anim>
                                    <p:anim calcmode="lin" valueType="num">
                                      <p:cBhvr>
                                        <p:cTn id="15" dur="1000" fill="hold"/>
                                        <p:tgtEl>
                                          <p:spTgt spid="13"/>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100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1000"/>
                                        <p:tgtEl>
                                          <p:spTgt spid="11"/>
                                        </p:tgtEl>
                                      </p:cBhvr>
                                    </p:animEffect>
                                    <p:anim calcmode="lin" valueType="num">
                                      <p:cBhvr>
                                        <p:cTn id="20" dur="1000" fill="hold"/>
                                        <p:tgtEl>
                                          <p:spTgt spid="11"/>
                                        </p:tgtEl>
                                        <p:attrNameLst>
                                          <p:attrName>ppt_x</p:attrName>
                                        </p:attrNameLst>
                                      </p:cBhvr>
                                      <p:tavLst>
                                        <p:tav tm="0">
                                          <p:val>
                                            <p:strVal val="#ppt_x"/>
                                          </p:val>
                                        </p:tav>
                                        <p:tav tm="100000">
                                          <p:val>
                                            <p:strVal val="#ppt_x"/>
                                          </p:val>
                                        </p:tav>
                                      </p:tavLst>
                                    </p:anim>
                                    <p:anim calcmode="lin" valueType="num">
                                      <p:cBhvr>
                                        <p:cTn id="21" dur="1000" fill="hold"/>
                                        <p:tgtEl>
                                          <p:spTgt spid="11"/>
                                        </p:tgtEl>
                                        <p:attrNameLst>
                                          <p:attrName>ppt_y</p:attrName>
                                        </p:attrNameLst>
                                      </p:cBhvr>
                                      <p:tavLst>
                                        <p:tav tm="0">
                                          <p:val>
                                            <p:strVal val="#ppt_y+.1"/>
                                          </p:val>
                                        </p:tav>
                                        <p:tav tm="100000">
                                          <p:val>
                                            <p:strVal val="#ppt_y"/>
                                          </p:val>
                                        </p:tav>
                                      </p:tavLst>
                                    </p:anim>
                                  </p:childTnLst>
                                </p:cTn>
                              </p:par>
                            </p:childTnLst>
                          </p:cTn>
                        </p:par>
                        <p:par>
                          <p:cTn id="22" fill="hold">
                            <p:stCondLst>
                              <p:cond delay="4000"/>
                            </p:stCondLst>
                            <p:childTnLst>
                              <p:par>
                                <p:cTn id="23" presetID="42" presetClass="entr" presetSubtype="0" fill="hold" nodeType="after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1000"/>
                                        <p:tgtEl>
                                          <p:spTgt spid="15"/>
                                        </p:tgtEl>
                                      </p:cBhvr>
                                    </p:animEffect>
                                    <p:anim calcmode="lin" valueType="num">
                                      <p:cBhvr>
                                        <p:cTn id="26" dur="1000" fill="hold"/>
                                        <p:tgtEl>
                                          <p:spTgt spid="15"/>
                                        </p:tgtEl>
                                        <p:attrNameLst>
                                          <p:attrName>ppt_x</p:attrName>
                                        </p:attrNameLst>
                                      </p:cBhvr>
                                      <p:tavLst>
                                        <p:tav tm="0">
                                          <p:val>
                                            <p:strVal val="#ppt_x"/>
                                          </p:val>
                                        </p:tav>
                                        <p:tav tm="100000">
                                          <p:val>
                                            <p:strVal val="#ppt_x"/>
                                          </p:val>
                                        </p:tav>
                                      </p:tavLst>
                                    </p:anim>
                                    <p:anim calcmode="lin" valueType="num">
                                      <p:cBhvr>
                                        <p:cTn id="27"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The Benefits of Automated Passenger Counting Systems - V-Count Blog">
            <a:extLst>
              <a:ext uri="{FF2B5EF4-FFF2-40B4-BE49-F238E27FC236}">
                <a16:creationId xmlns:a16="http://schemas.microsoft.com/office/drawing/2014/main" id="{AE9EB220-1825-AFD2-3FD8-2D410006049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77737" y="144055"/>
            <a:ext cx="6818812" cy="40513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9259651-82F8-0632-F66D-647840EDE006}"/>
              </a:ext>
            </a:extLst>
          </p:cNvPr>
          <p:cNvSpPr txBox="1"/>
          <p:nvPr/>
        </p:nvSpPr>
        <p:spPr>
          <a:xfrm>
            <a:off x="3870956" y="4526169"/>
            <a:ext cx="4153989" cy="923330"/>
          </a:xfrm>
          <a:prstGeom prst="rect">
            <a:avLst/>
          </a:prstGeom>
          <a:noFill/>
        </p:spPr>
        <p:txBody>
          <a:bodyPr wrap="square">
            <a:spAutoFit/>
          </a:bodyPr>
          <a:lstStyle/>
          <a:p>
            <a:r>
              <a:rPr lang="en-IN" sz="5400" b="1" dirty="0">
                <a:ln w="22225">
                  <a:solidFill>
                    <a:schemeClr val="accent2"/>
                  </a:solidFill>
                  <a:prstDash val="solid"/>
                </a:ln>
                <a:solidFill>
                  <a:schemeClr val="accent2">
                    <a:lumMod val="40000"/>
                    <a:lumOff val="60000"/>
                  </a:schemeClr>
                </a:solidFill>
              </a:rPr>
              <a:t>THANK YOU</a:t>
            </a:r>
          </a:p>
        </p:txBody>
      </p:sp>
    </p:spTree>
    <p:extLst>
      <p:ext uri="{BB962C8B-B14F-4D97-AF65-F5344CB8AC3E}">
        <p14:creationId xmlns:p14="http://schemas.microsoft.com/office/powerpoint/2010/main" val="354397364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Wood Type">
      <a:majorFont>
        <a:latin typeface="Georgia" panose="020405020504050203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C6AE0645-98FF-411B-B0E9-59ABD78A0CCE}"/>
    </a:ext>
  </a:extLst>
</a:theme>
</file>

<file path=docProps/app.xml><?xml version="1.0" encoding="utf-8"?>
<Properties xmlns="http://schemas.openxmlformats.org/officeDocument/2006/extended-properties" xmlns:vt="http://schemas.openxmlformats.org/officeDocument/2006/docPropsVTypes">
  <Template>Wood Type</Template>
  <TotalTime>749</TotalTime>
  <Words>782</Words>
  <Application>Microsoft Office PowerPoint</Application>
  <PresentationFormat>Widescreen</PresentationFormat>
  <Paragraphs>79</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Georgia</vt:lpstr>
      <vt:lpstr>Times New Roman</vt:lpstr>
      <vt:lpstr>Trebuchet MS</vt:lpstr>
      <vt:lpstr>Wingdings</vt:lpstr>
      <vt:lpstr>Wood Type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Nithin R</dc:creator>
  <cp:lastModifiedBy>Nithin R</cp:lastModifiedBy>
  <cp:revision>12</cp:revision>
  <dcterms:created xsi:type="dcterms:W3CDTF">2022-10-26T14:38:14Z</dcterms:created>
  <dcterms:modified xsi:type="dcterms:W3CDTF">2022-12-19T16:50:48Z</dcterms:modified>
</cp:coreProperties>
</file>